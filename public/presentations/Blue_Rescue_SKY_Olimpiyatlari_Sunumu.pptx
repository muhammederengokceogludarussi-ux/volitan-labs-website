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ac71c977b04702" /><Relationship Type="http://schemas.openxmlformats.org/officeDocument/2006/relationships/extended-properties" Target="/docProps/app.xml" Id="R578694873b454626" /><Relationship Type="http://schemas.openxmlformats.org/officeDocument/2006/relationships/officeDocument" Target="/ppt/presentation.xml" Id="R6ecbac63e44e46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9e69b94bed4c36"/>
  </p:sldMasterIdLst>
  <p:notesMasterIdLst>
    <p:notesMasterId xmlns:r="http://schemas.openxmlformats.org/officeDocument/2006/relationships" r:id="Rb48af3723adc416a"/>
  </p:notesMasterIdLst>
  <p:sldIdLst>
    <p:sldId xmlns:r="http://schemas.openxmlformats.org/officeDocument/2006/relationships" id="256" r:id="R5c7e00a5b56145bc"/>
    <p:sldId xmlns:r="http://schemas.openxmlformats.org/officeDocument/2006/relationships" id="257" r:id="R2e31eba298cc4310"/>
    <p:sldId xmlns:r="http://schemas.openxmlformats.org/officeDocument/2006/relationships" id="258" r:id="Re1a0b9abbcb344e7"/>
    <p:sldId xmlns:r="http://schemas.openxmlformats.org/officeDocument/2006/relationships" id="259" r:id="R94ae2739a0764a3d"/>
    <p:sldId xmlns:r="http://schemas.openxmlformats.org/officeDocument/2006/relationships" id="260" r:id="Rfc00a664585b4925"/>
    <p:sldId xmlns:r="http://schemas.openxmlformats.org/officeDocument/2006/relationships" id="261" r:id="R3b9648df4954456c"/>
    <p:sldId xmlns:r="http://schemas.openxmlformats.org/officeDocument/2006/relationships" id="262" r:id="R6df22aecef3c44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2f4b7607d74061" /><Relationship Type="http://schemas.openxmlformats.org/officeDocument/2006/relationships/slideMaster" Target="/ppt/slideMasters/slideMaster1.xml" Id="R449e69b94bed4c36" /><Relationship Type="http://schemas.openxmlformats.org/officeDocument/2006/relationships/notesMaster" Target="/ppt/notesMasters/notesMaster1.xml" Id="Rb48af3723adc416a" /><Relationship Type="http://schemas.openxmlformats.org/officeDocument/2006/relationships/presProps" Target="/ppt/presProps.xml" Id="Rdae48269eb534d9c" /><Relationship Type="http://schemas.openxmlformats.org/officeDocument/2006/relationships/tableStyles" Target="/ppt/tableStyles.xml" Id="R7aaf90b417a547f3" /><Relationship Type="http://schemas.openxmlformats.org/officeDocument/2006/relationships/slide" Target="/ppt/slides/slide1.xml" Id="R5c7e00a5b56145bc" /><Relationship Type="http://schemas.openxmlformats.org/officeDocument/2006/relationships/slide" Target="/ppt/slides/slide2.xml" Id="R2e31eba298cc4310" /><Relationship Type="http://schemas.openxmlformats.org/officeDocument/2006/relationships/slide" Target="/ppt/slides/slide3.xml" Id="Re1a0b9abbcb344e7" /><Relationship Type="http://schemas.openxmlformats.org/officeDocument/2006/relationships/slide" Target="/ppt/slides/slide4.xml" Id="R94ae2739a0764a3d" /><Relationship Type="http://schemas.openxmlformats.org/officeDocument/2006/relationships/slide" Target="/ppt/slides/slide5.xml" Id="Rfc00a664585b4925" /><Relationship Type="http://schemas.openxmlformats.org/officeDocument/2006/relationships/slide" Target="/ppt/slides/slide6.xml" Id="R3b9648df4954456c" /><Relationship Type="http://schemas.openxmlformats.org/officeDocument/2006/relationships/slide" Target="/ppt/slides/slide7.xml" Id="R6df22aecef3c44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9a7839be944e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583044f223496c" /><Relationship Type="http://schemas.openxmlformats.org/officeDocument/2006/relationships/notesMaster" Target="/ppt/notesMasters/notesMaster1.xml" Id="R77991418a8cf43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8b2958e722459c" /><Relationship Type="http://schemas.openxmlformats.org/officeDocument/2006/relationships/notesMaster" Target="/ppt/notesMasters/notesMaster1.xml" Id="R7f6478a803c640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4db1619fc04e7b" /><Relationship Type="http://schemas.openxmlformats.org/officeDocument/2006/relationships/notesMaster" Target="/ppt/notesMasters/notesMaster1.xml" Id="Rcd5e9712dc8443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f5ddb8775a4f06" /><Relationship Type="http://schemas.openxmlformats.org/officeDocument/2006/relationships/notesMaster" Target="/ppt/notesMasters/notesMaster1.xml" Id="R7e9a4c2f375a49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242047f7434265" /><Relationship Type="http://schemas.openxmlformats.org/officeDocument/2006/relationships/notesMaster" Target="/ppt/notesMasters/notesMaster1.xml" Id="R41468e5b58fb43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93697a4f6a419d" /><Relationship Type="http://schemas.openxmlformats.org/officeDocument/2006/relationships/notesMaster" Target="/ppt/notesMasters/notesMaster1.xml" Id="R7794726f8dd24c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1281bc5c324349" /><Relationship Type="http://schemas.openxmlformats.org/officeDocument/2006/relationships/notesMaster" Target="/ppt/notesMasters/notesMaster1.xml" Id="R20e416267ebc4a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projeyi SKY Olimpiyatları için hazırladım.</a:t>
            </a:r>
          </a:p>
          <a:p xmlns:a="http://schemas.openxmlformats.org/drawingml/2006/main">
            <a:r>
              <a:t>GÖKBEY Isıl ve Akışkanlar Analizi tarafında staj yapıyorum. Beklenen seçenek, yaptığım teknik bir analizi anlatmaktı. Ben biraz daha beklenmedik ve akılda kalıcı bir şey yapmak istedim.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 ve staj bağlamı: kullanıcı tarafından sağlanan bilgiler.</a:t>
            </a:r>
          </a:p>
          <a:p xmlns:a="http://schemas.openxmlformats.org/drawingml/2006/main">
            <a:r>
              <a:t>Oyun ekranı: D:/tusasgame/design-qa-artifacts/final-menu.png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Stajımın doğal devamı olarak bir ısıl analiz örneği sunabilirdim. Bu yanlış olmazdı; sadece beklenen olurdu.</a:t>
            </a:r>
          </a:p>
          <a:p xmlns:a="http://schemas.openxmlformats.org/drawingml/2006/main">
            <a:r>
              <a:t>SKY Olimpiyatları için izleyicinin doğrudan deneyebileceği, küçük ama tamamlanmış bir iş göstermenin daha güçlü olacağını düşündüm.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Karar süreci: kullanıcı tarafından sağlanan kişisel proje bağlamı.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Burada özellikle büyük bir anlam üretmeye gerek yok: GÖKBEY tarafında olduğum için helikopter teması bana doğal geldi.</a:t>
            </a:r>
          </a:p>
          <a:p xmlns:a="http://schemas.openxmlformats.org/drawingml/2006/main">
            <a:r>
              <a:t>Oyundaki araç tamamen generic bir mavi kurtarma helikopteri. Resmî logo ya da ürün görseli kullanmadım.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Staj bağlamı: kullanıcı tarafından sağlanan bilgiler.</a:t>
            </a:r>
          </a:p>
          <a:p xmlns:a="http://schemas.openxmlformats.org/drawingml/2006/main">
            <a:r>
              <a:t>Oyun ekranı: D:/tusasgame/design-qa-artifacts/final-gameplay.png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İlk sürüm oynanıyordu ama menü bir masaüstü programı gibi görünüyordu. Sadece rengi değiştirmenin yetmeyeceği açıktı.</a:t>
            </a:r>
          </a:p>
          <a:p xmlns:a="http://schemas.openxmlformats.org/drawingml/2006/main">
            <a:r>
              <a:t>Bu yüzden başlık, buton sırası, tipografi ve hareket hissini birlikte ele aldım. Ekran görüntülerinde fark doğrudan görülüyor.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İlk sürüm ekranı: D:/tusasgame/design-qa-artifacts/baseline-menu.png</a:t>
            </a:r>
          </a:p>
          <a:p xmlns:a="http://schemas.openxmlformats.org/drawingml/2006/main">
            <a:r>
              <a:t>Güncel ekran: D:/tusasgame/design-qa-artifacts/final-menu.png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Oyunun kapsamını özellikle küçük tuttum. Tek dokunuşla yükselip alçalma, kurtarma alanına yaklaşma, engellerden kaçma ve skor-seri takibi ana döngü olarak kaldı.</a:t>
            </a:r>
          </a:p>
          <a:p xmlns:a="http://schemas.openxmlformats.org/drawingml/2006/main">
            <a:r>
              <a:t>Böylece yeni sistem eklemek yerine aynı döngünün anlaşılır ve tekrar oynanabilir olmasına odaklandım.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Menü, oynanış ve görev raporu: D:/tusasgame/design-qa-artifacts/final-menu.png; final-gameplay.png; final-report.png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Buradaki en önemli ders, oyunu büyütmekle oyunu iyileştirmenin aynı şey olmadığıydı.</a:t>
            </a:r>
          </a:p>
          <a:p xmlns:a="http://schemas.openxmlformats.org/drawingml/2006/main">
            <a:r>
              <a:t>Eğim, rotor, kurtarma vurgusu, combo tepkisi ve çarpışma geri bildirimi gibi küçük ayrıntılar mevcut oynanışı daha anlaşılır ve canlı yaptı.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Oyun davranışları: D:/tusasgame/game.js ve game-core.js</a:t>
            </a:r>
          </a:p>
          <a:p xmlns:a="http://schemas.openxmlformats.org/drawingml/2006/main">
            <a:r>
              <a:t>Güncel oynanış ekranı: D:/tusasgame/design-qa-artifacts/final-gameplay.png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Blue Rescue'ın SKY Olimpiyatları için anlamı burada: klasik bir staj raporu yerine, neden yaptığımı açıklayabildiğim ve doğrudan oynatabildiğim bir proje çıktı.</a:t>
            </a:r>
          </a:p>
          <a:p xmlns:a="http://schemas.openxmlformats.org/drawingml/2006/main">
            <a:r>
              <a:t>Sunumdan sonra oyunu QR koduyla hemen deneyebilirsiniz.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Canlı demo: https://volitanlabs.dev/tr/blue-rescue</a:t>
            </a:r>
          </a:p>
          <a:p xmlns:a="http://schemas.openxmlformats.org/drawingml/2006/main">
            <a:r>
              <a:t>QR kodu: D:/tusasgame/_site/public/images/games/blue-rescue/qr-volitanlabs.svg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bce05ee37049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36e57a55314dc8" /><Relationship Type="http://schemas.openxmlformats.org/officeDocument/2006/relationships/slideLayout" Target="/ppt/slideLayouts/slideLayout1.xml" Id="R7a22af583bad48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22af583bad48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bbba643da4c93" /><Relationship Type="http://schemas.openxmlformats.org/officeDocument/2006/relationships/image" Target="/ppt/media/image.jpeg" Id="R327fc1e6f379456c" /><Relationship Type="http://schemas.openxmlformats.org/officeDocument/2006/relationships/notesSlide" Target="/ppt/notesSlides/notesSlide1.xml" Id="R573e3cc267a849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39db3b5794d1e" /><Relationship Type="http://schemas.openxmlformats.org/officeDocument/2006/relationships/notesSlide" Target="/ppt/notesSlides/notesSlide2.xml" Id="Rea7f056b2c4b42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9d1bdcd694500" /><Relationship Type="http://schemas.openxmlformats.org/officeDocument/2006/relationships/image" Target="/ppt/media/image2.jpeg" Id="R67e043283da34862" /><Relationship Type="http://schemas.openxmlformats.org/officeDocument/2006/relationships/notesSlide" Target="/ppt/notesSlides/notesSlide3.xml" Id="R1577c0aeea874e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e635bebff45dd" /><Relationship Type="http://schemas.openxmlformats.org/officeDocument/2006/relationships/image" Target="/ppt/media/image3.jpeg" Id="R7e91c00ef09b43c9" /><Relationship Type="http://schemas.openxmlformats.org/officeDocument/2006/relationships/image" Target="/ppt/media/image4.jpeg" Id="R622a35b870b143b3" /><Relationship Type="http://schemas.openxmlformats.org/officeDocument/2006/relationships/notesSlide" Target="/ppt/notesSlides/notesSlide4.xml" Id="R375ff9a8a0da49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d3f3eacfc425a" /><Relationship Type="http://schemas.openxmlformats.org/officeDocument/2006/relationships/image" Target="/ppt/media/image5.jpeg" Id="R555275b523104fa9" /><Relationship Type="http://schemas.openxmlformats.org/officeDocument/2006/relationships/image" Target="/ppt/media/image6.jpeg" Id="Rd61fe12b22cc4501" /><Relationship Type="http://schemas.openxmlformats.org/officeDocument/2006/relationships/image" Target="/ppt/media/image7.jpeg" Id="R9cd5c3c4d2724ac6" /><Relationship Type="http://schemas.openxmlformats.org/officeDocument/2006/relationships/notesSlide" Target="/ppt/notesSlides/notesSlide5.xml" Id="Ra1b8aff377954d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18f34bdab4e89" /><Relationship Type="http://schemas.openxmlformats.org/officeDocument/2006/relationships/image" Target="/ppt/media/image8.jpeg" Id="Ra585d255b85a4f47" /><Relationship Type="http://schemas.openxmlformats.org/officeDocument/2006/relationships/notesSlide" Target="/ppt/notesSlides/notesSlide6.xml" Id="Rdf6af5a99d7147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f0d4ae0ad4867" /><Relationship Type="http://schemas.openxmlformats.org/officeDocument/2006/relationships/image" Target="/ppt/media/image.png" Id="Rea4129a8def648bb" /><Relationship Type="http://schemas.openxmlformats.org/officeDocument/2006/relationships/image" Target="/ppt/media/image.svg" Id="Rb0d22bf8588d4138" /><Relationship Type="http://schemas.openxmlformats.org/officeDocument/2006/relationships/notesSlide" Target="/ppt/notesSlides/notesSlide7.xml" Id="R5641021571ca4c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317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5352B26-B507-4D92-9171-90B418C7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context">
            <a:extLst xmlns:a="http://schemas.openxmlformats.org/drawingml/2006/main">
              <a:ext uri="{FF2B5EF4-FFF2-40B4-BE49-F238E27FC236}">
                <a16:creationId xmlns:a16="http://schemas.microsoft.com/office/drawing/2014/main" id="{1E3F0608-C2BA-4660-8C39-6C2CBA53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C2FF"/>
                </a:solidFill>
              </a:defRPr>
            </a:pPr>
            <a:r>
              <a:rPr sz="1500" b="1">
                <a:solidFill>
                  <a:srgbClr val="36C2FF"/>
                </a:solidFill>
              </a:rPr>
              <a:t>SKY OLİMPİYATLARI  /  2026</a:t>
            </a:r>
          </a:p>
        </p:txBody>
      </p:sp>
      <p:sp>
        <p:nvSpPr>
          <p:cNvPr id="3" name="title-blue">
            <a:extLst xmlns:a="http://schemas.openxmlformats.org/drawingml/2006/main">
              <a:ext uri="{FF2B5EF4-FFF2-40B4-BE49-F238E27FC236}">
                <a16:creationId xmlns:a16="http://schemas.microsoft.com/office/drawing/2014/main" id="{7C833555-DA8D-4A50-A4CA-D21013B8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36C2FF"/>
                </a:solidFill>
              </a:defRPr>
            </a:pPr>
            <a:r>
              <a:rPr sz="6900" b="1">
                <a:solidFill>
                  <a:srgbClr val="36C2FF"/>
                </a:solidFill>
              </a:rPr>
              <a:t>BLUE</a:t>
            </a:r>
          </a:p>
        </p:txBody>
      </p:sp>
      <p:sp>
        <p:nvSpPr>
          <p:cNvPr id="4" name="title-rescue">
            <a:extLst xmlns:a="http://schemas.openxmlformats.org/drawingml/2006/main">
              <a:ext uri="{FF2B5EF4-FFF2-40B4-BE49-F238E27FC236}">
                <a16:creationId xmlns:a16="http://schemas.microsoft.com/office/drawing/2014/main" id="{E4F57B13-6B59-4853-A003-931A6B1B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239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850" b="1">
                <a:solidFill>
                  <a:srgbClr val="F5FAFF"/>
                </a:solidFill>
              </a:defRPr>
            </a:pPr>
            <a:r>
              <a:rPr sz="8850" b="1">
                <a:solidFill>
                  <a:srgbClr val="F5FAFF"/>
                </a:solidFill>
              </a:rPr>
              <a:t>RESCUE</a:t>
            </a:r>
          </a:p>
        </p:txBody>
      </p:sp>
      <p:sp>
        <p:nvSpPr>
          <p:cNvPr id="5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5563CDD0-FA60-4E48-A980-C1EEFC96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666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5FAFF"/>
                </a:solidFill>
              </a:defRPr>
            </a:pPr>
            <a:r>
              <a:rPr sz="2325" b="0">
                <a:solidFill>
                  <a:srgbClr val="F5FAFF"/>
                </a:solidFill>
              </a:rPr>
              <a:t>Beklenen bir staj sunumu yerine,</a:t>
            </a:r>
          </a:p>
          <a:p xmlns:a="http://schemas.openxmlformats.org/drawingml/2006/main">
            <a:pPr algn="l">
              <a:defRPr sz="2325" b="0">
                <a:solidFill>
                  <a:srgbClr val="F5FAFF"/>
                </a:solidFill>
              </a:defRPr>
            </a:pPr>
            <a:r>
              <a:rPr sz="2325" b="0">
                <a:solidFill>
                  <a:srgbClr val="F5FAFF"/>
                </a:solidFill>
              </a:rPr>
              <a:t>oynanabilen küçük bir fikir.</a:t>
            </a:r>
          </a:p>
        </p:txBody>
      </p:sp>
      <p:sp>
        <p:nvSpPr>
          <p:cNvPr id="6" name="title-byline">
            <a:extLst xmlns:a="http://schemas.openxmlformats.org/drawingml/2006/main">
              <a:ext uri="{FF2B5EF4-FFF2-40B4-BE49-F238E27FC236}">
                <a16:creationId xmlns:a16="http://schemas.microsoft.com/office/drawing/2014/main" id="{CFF0C755-800E-477E-A26D-80AAC6BD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C6DC"/>
                </a:solidFill>
              </a:defRPr>
            </a:pPr>
            <a:r>
              <a:rPr sz="1650" b="1">
                <a:solidFill>
                  <a:srgbClr val="A9C6DC"/>
                </a:solidFill>
              </a:rPr>
              <a:t>GÖKBEY Isıl ve Akışkanlar Analizi stajı</a:t>
            </a:r>
          </a:p>
        </p:txBody>
      </p:sp>
      <p:sp>
        <p:nvSpPr>
          <p:cNvPr id="7" name="title-name">
            <a:extLst xmlns:a="http://schemas.openxmlformats.org/drawingml/2006/main">
              <a:ext uri="{FF2B5EF4-FFF2-40B4-BE49-F238E27FC236}">
                <a16:creationId xmlns:a16="http://schemas.microsoft.com/office/drawing/2014/main" id="{0C31051C-2C68-4146-9260-12CDBFFF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AFF"/>
                </a:solidFill>
              </a:defRPr>
            </a:pPr>
            <a:r>
              <a:rPr sz="1575" b="0">
                <a:solidFill>
                  <a:srgbClr val="F5FAFF"/>
                </a:solidFill>
              </a:rPr>
              <a:t>Muhammed Eren Gökceoğlu</a:t>
            </a:r>
          </a:p>
        </p:txBody>
      </p:sp>
      <p:sp>
        <p:nvSpPr>
          <p:cNvPr id="8" name="Blue Rescue güncel ana menüsü-frame">
            <a:extLst xmlns:a="http://schemas.openxmlformats.org/drawingml/2006/main">
              <a:ext uri="{FF2B5EF4-FFF2-40B4-BE49-F238E27FC236}">
                <a16:creationId xmlns:a16="http://schemas.microsoft.com/office/drawing/2014/main" id="{AD0AF0D2-136B-44EE-8EFA-592AC1B6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"/>
            <a:ext cx="2981325" cy="6362700"/>
          </a:xfrm>
          <a:prstGeom xmlns:a="http://schemas.openxmlformats.org/drawingml/2006/main" prst="roundRect">
            <a:avLst>
              <a:gd name="adj" fmla="val 7668"/>
            </a:avLst>
          </a:prstGeom>
          <a:solidFill xmlns:a="http://schemas.openxmlformats.org/drawingml/2006/main">
            <a:srgbClr val="36C2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fc1e6f379456c"/>
          <a:srcRect xmlns:a="http://schemas.openxmlformats.org/drawingml/2006/main" l="0" t="4" r="0" b="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0" y="285750"/>
            <a:ext cx="2905125" cy="6286500"/>
          </a:xfrm>
          <a:prstGeom xmlns:a="http://schemas.openxmlformats.org/drawingml/2006/main" prst="roundRect">
            <a:avLst>
              <a:gd name="adj" fmla="val 7869"/>
            </a:avLst>
          </a:prstGeom>
        </p:spPr>
      </p:pic>
    </p:spTree>
    <p:extLst>
      <p:ext uri="{BB962C8B-B14F-4D97-AF65-F5344CB8AC3E}">
        <p14:creationId xmlns:p14="http://schemas.microsoft.com/office/powerpoint/2010/main" val="19314025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317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">
            <a:extLst xmlns:a="http://schemas.openxmlformats.org/drawingml/2006/main">
              <a:ext uri="{FF2B5EF4-FFF2-40B4-BE49-F238E27FC236}">
                <a16:creationId xmlns:a16="http://schemas.microsoft.com/office/drawing/2014/main" id="{EC297B24-62BD-4950-9E5D-8FC2E4A2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C2FF"/>
                </a:solidFill>
              </a:defRPr>
            </a:pPr>
            <a:r>
              <a:rPr sz="1350" b="1">
                <a:solidFill>
                  <a:srgbClr val="36C2FF"/>
                </a:solidFill>
              </a:rPr>
              <a:t>NEDEN BU PROJE?</a:t>
            </a:r>
          </a:p>
        </p:txBody>
      </p:sp>
      <p:sp>
        <p:nvSpPr>
          <p:cNvPr id="2" name="choice-title">
            <a:extLst xmlns:a="http://schemas.openxmlformats.org/drawingml/2006/main">
              <a:ext uri="{FF2B5EF4-FFF2-40B4-BE49-F238E27FC236}">
                <a16:creationId xmlns:a16="http://schemas.microsoft.com/office/drawing/2014/main" id="{137FC675-76FC-4F2A-9999-6802A6A4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5FAFF"/>
                </a:solidFill>
              </a:defRPr>
            </a:pPr>
            <a:r>
              <a:rPr sz="4050" b="1">
                <a:solidFill>
                  <a:srgbClr val="F5FAFF"/>
                </a:solidFill>
              </a:rPr>
              <a:t>Beklenen yol belliydi.</a:t>
            </a:r>
          </a:p>
        </p:txBody>
      </p:sp>
      <p:sp>
        <p:nvSpPr>
          <p:cNvPr id="3" name="choice-expected">
            <a:extLst xmlns:a="http://schemas.openxmlformats.org/drawingml/2006/main">
              <a:ext uri="{FF2B5EF4-FFF2-40B4-BE49-F238E27FC236}">
                <a16:creationId xmlns:a16="http://schemas.microsoft.com/office/drawing/2014/main" id="{8CE5F8E7-0A80-4187-8106-1A4DD7E9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4857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9C6DC"/>
                </a:solidFill>
              </a:defRPr>
            </a:pPr>
            <a:r>
              <a:rPr sz="2850" b="1">
                <a:solidFill>
                  <a:srgbClr val="A9C6DC"/>
                </a:solidFill>
              </a:rPr>
              <a:t>Isıl analizle ilgili</a:t>
            </a:r>
          </a:p>
          <a:p xmlns:a="http://schemas.openxmlformats.org/drawingml/2006/main">
            <a:pPr algn="l">
              <a:defRPr sz="2850" b="1">
                <a:solidFill>
                  <a:srgbClr val="A9C6DC"/>
                </a:solidFill>
              </a:defRPr>
            </a:pPr>
            <a:r>
              <a:rPr sz="2850" b="1">
                <a:solidFill>
                  <a:srgbClr val="A9C6DC"/>
                </a:solidFill>
              </a:rPr>
              <a:t>normal bir staj konusu</a:t>
            </a:r>
          </a:p>
        </p:txBody>
      </p:sp>
      <p:sp>
        <p:nvSpPr>
          <p:cNvPr id="4" name="choice-divider">
            <a:extLst xmlns:a="http://schemas.openxmlformats.org/drawingml/2006/main">
              <a:ext uri="{FF2B5EF4-FFF2-40B4-BE49-F238E27FC236}">
                <a16:creationId xmlns:a16="http://schemas.microsoft.com/office/drawing/2014/main" id="{5219590F-6AD4-4F7B-8CC4-C79B30D6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438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2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hoice-turn">
            <a:extLst xmlns:a="http://schemas.openxmlformats.org/drawingml/2006/main">
              <a:ext uri="{FF2B5EF4-FFF2-40B4-BE49-F238E27FC236}">
                <a16:creationId xmlns:a16="http://schemas.microsoft.com/office/drawing/2014/main" id="{1F4DDB37-79E1-4B49-982A-0CA56993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AFF"/>
                </a:solidFill>
              </a:defRPr>
            </a:pPr>
            <a:r>
              <a:rPr sz="1950" b="0">
                <a:solidFill>
                  <a:srgbClr val="F5FAFF"/>
                </a:solidFill>
              </a:rPr>
              <a:t>Ama bu, tahmin edilmesi</a:t>
            </a:r>
          </a:p>
          <a:p xmlns:a="http://schemas.openxmlformats.org/drawingml/2006/main">
            <a:pPr algn="l">
              <a:defRPr sz="1950" b="0">
                <a:solidFill>
                  <a:srgbClr val="F5FAFF"/>
                </a:solidFill>
              </a:defRPr>
            </a:pPr>
            <a:r>
              <a:rPr sz="1950" b="0">
                <a:solidFill>
                  <a:srgbClr val="F5FAFF"/>
                </a:solidFill>
              </a:rPr>
              <a:t>çok kolay bir sunum olurdu.</a:t>
            </a:r>
          </a:p>
        </p:txBody>
      </p:sp>
      <p:sp>
        <p:nvSpPr>
          <p:cNvPr id="6" name="choice-right-bg">
            <a:extLst xmlns:a="http://schemas.openxmlformats.org/drawingml/2006/main">
              <a:ext uri="{FF2B5EF4-FFF2-40B4-BE49-F238E27FC236}">
                <a16:creationId xmlns:a16="http://schemas.microsoft.com/office/drawing/2014/main" id="{7A4FFD0D-AFB0-4C81-8B60-B503CC65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hoice-right-kicker">
            <a:extLst xmlns:a="http://schemas.openxmlformats.org/drawingml/2006/main">
              <a:ext uri="{FF2B5EF4-FFF2-40B4-BE49-F238E27FC236}">
                <a16:creationId xmlns:a16="http://schemas.microsoft.com/office/drawing/2014/main" id="{DEAF550D-F181-4E52-A732-4E426F2B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104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A3D"/>
                </a:solidFill>
              </a:defRPr>
            </a:pPr>
            <a:r>
              <a:rPr sz="1500" b="1">
                <a:solidFill>
                  <a:srgbClr val="FF6A3D"/>
                </a:solidFill>
              </a:rPr>
              <a:t>BENİM SEÇİMİM</a:t>
            </a:r>
          </a:p>
        </p:txBody>
      </p:sp>
      <p:sp>
        <p:nvSpPr>
          <p:cNvPr id="8" name="choice-right-title">
            <a:extLst xmlns:a="http://schemas.openxmlformats.org/drawingml/2006/main">
              <a:ext uri="{FF2B5EF4-FFF2-40B4-BE49-F238E27FC236}">
                <a16:creationId xmlns:a16="http://schemas.microsoft.com/office/drawing/2014/main" id="{0EA6A3C8-FF63-436D-9550-D76F5C35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76400"/>
            <a:ext cx="4762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AFF"/>
                </a:solidFill>
              </a:defRPr>
            </a:pPr>
            <a:r>
              <a:rPr sz="4350" b="1">
                <a:solidFill>
                  <a:srgbClr val="F5FAFF"/>
                </a:solidFill>
              </a:rPr>
              <a:t>Küçük bir</a:t>
            </a:r>
          </a:p>
          <a:p xmlns:a="http://schemas.openxmlformats.org/drawingml/2006/main">
            <a:pPr algn="l">
              <a:defRPr sz="4350" b="1">
                <a:solidFill>
                  <a:srgbClr val="F5FAFF"/>
                </a:solidFill>
              </a:defRPr>
            </a:pPr>
            <a:r>
              <a:rPr sz="4350" b="1">
                <a:solidFill>
                  <a:srgbClr val="F5FAFF"/>
                </a:solidFill>
              </a:rPr>
              <a:t>kurtarma oyunu</a:t>
            </a:r>
          </a:p>
        </p:txBody>
      </p:sp>
      <p:sp>
        <p:nvSpPr>
          <p:cNvPr id="9" name="choice-right-body">
            <a:extLst xmlns:a="http://schemas.openxmlformats.org/drawingml/2006/main">
              <a:ext uri="{FF2B5EF4-FFF2-40B4-BE49-F238E27FC236}">
                <a16:creationId xmlns:a16="http://schemas.microsoft.com/office/drawing/2014/main" id="{9525DD3A-C08C-4180-83C3-64803BBB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19500"/>
            <a:ext cx="4476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9C6DC"/>
                </a:solidFill>
              </a:defRPr>
            </a:pPr>
            <a:r>
              <a:rPr sz="2025" b="0">
                <a:solidFill>
                  <a:srgbClr val="A9C6DC"/>
                </a:solidFill>
              </a:rPr>
              <a:t>Kısa sürede anlaşılabilen,</a:t>
            </a:r>
          </a:p>
          <a:p xmlns:a="http://schemas.openxmlformats.org/drawingml/2006/main">
            <a:pPr algn="l">
              <a:defRPr sz="2025" b="0">
                <a:solidFill>
                  <a:srgbClr val="A9C6DC"/>
                </a:solidFill>
              </a:defRPr>
            </a:pPr>
            <a:r>
              <a:rPr sz="2025" b="0">
                <a:solidFill>
                  <a:srgbClr val="A9C6DC"/>
                </a:solidFill>
              </a:rPr>
              <a:t>oynanabilen ve sunum bittiğinde</a:t>
            </a:r>
          </a:p>
          <a:p xmlns:a="http://schemas.openxmlformats.org/drawingml/2006/main">
            <a:pPr algn="l">
              <a:defRPr sz="2025" b="0">
                <a:solidFill>
                  <a:srgbClr val="A9C6DC"/>
                </a:solidFill>
              </a:defRPr>
            </a:pPr>
            <a:r>
              <a:rPr sz="2025" b="0">
                <a:solidFill>
                  <a:srgbClr val="A9C6DC"/>
                </a:solidFill>
              </a:rPr>
              <a:t>akılda kalan bir şey.</a:t>
            </a:r>
          </a:p>
        </p:txBody>
      </p:sp>
      <p:sp>
        <p:nvSpPr>
          <p:cNvPr id="10" name="choice-right-close">
            <a:extLst xmlns:a="http://schemas.openxmlformats.org/drawingml/2006/main">
              <a:ext uri="{FF2B5EF4-FFF2-40B4-BE49-F238E27FC236}">
                <a16:creationId xmlns:a16="http://schemas.microsoft.com/office/drawing/2014/main" id="{95785DCC-4E9D-4746-8819-AB1FC32C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911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6C2FF"/>
                </a:solidFill>
              </a:defRPr>
            </a:pPr>
            <a:r>
              <a:rPr sz="1800" b="1">
                <a:solidFill>
                  <a:srgbClr val="36C2FF"/>
                </a:solidFill>
              </a:rPr>
              <a:t>Yani konu değişmedi; anlatma biçimi değişti.</a:t>
            </a:r>
          </a:p>
        </p:txBody>
      </p:sp>
      <p:sp>
        <p:nvSpPr>
          <p:cNvPr id="11" name="footer-line-2">
            <a:extLst xmlns:a="http://schemas.openxmlformats.org/drawingml/2006/main">
              <a:ext uri="{FF2B5EF4-FFF2-40B4-BE49-F238E27FC236}">
                <a16:creationId xmlns:a16="http://schemas.microsoft.com/office/drawing/2014/main" id="{113E29DE-0E29-47FC-BEB6-25B06A08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2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-name-2">
            <a:extLst xmlns:a="http://schemas.openxmlformats.org/drawingml/2006/main">
              <a:ext uri="{FF2B5EF4-FFF2-40B4-BE49-F238E27FC236}">
                <a16:creationId xmlns:a16="http://schemas.microsoft.com/office/drawing/2014/main" id="{CE7D754E-9C69-4063-85F8-674FA0EA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C6DC"/>
                </a:solidFill>
              </a:defRPr>
            </a:pPr>
            <a:r>
              <a:rPr sz="1050" b="1">
                <a:solidFill>
                  <a:srgbClr val="A9C6DC"/>
                </a:solidFill>
              </a:rPr>
              <a:t>MUHAMMED EREN GÖKCEOĞLU</a:t>
            </a:r>
          </a:p>
        </p:txBody>
      </p:sp>
      <p:sp>
        <p:nvSpPr>
          <p:cNvPr id="13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33B4A919-7787-4C96-A8B4-4B981198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6DC"/>
                </a:solidFill>
              </a:defRPr>
            </a:pPr>
            <a:r>
              <a:rPr sz="1050" b="1">
                <a:solidFill>
                  <a:srgbClr val="A9C6D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391247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2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E1A4C3B2-1A05-4B7D-8A76-C6E3296C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C2FF"/>
                </a:solidFill>
              </a:defRPr>
            </a:pPr>
            <a:r>
              <a:rPr sz="1350" b="1">
                <a:solidFill>
                  <a:srgbClr val="36C2FF"/>
                </a:solidFill>
              </a:rPr>
              <a:t>FİKRİN ÇIKIŞ NOKTASI</a:t>
            </a:r>
          </a:p>
        </p:txBody>
      </p:sp>
      <p:sp>
        <p:nvSpPr>
          <p:cNvPr id="2" name="why-title">
            <a:extLst xmlns:a="http://schemas.openxmlformats.org/drawingml/2006/main">
              <a:ext uri="{FF2B5EF4-FFF2-40B4-BE49-F238E27FC236}">
                <a16:creationId xmlns:a16="http://schemas.microsoft.com/office/drawing/2014/main" id="{95654DD0-F42C-4630-8635-C36B7C52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AFF"/>
                </a:solidFill>
              </a:defRPr>
            </a:pPr>
            <a:r>
              <a:rPr sz="4350" b="1">
                <a:solidFill>
                  <a:srgbClr val="F5FAFF"/>
                </a:solidFill>
              </a:rPr>
              <a:t>Neden helikopter?</a:t>
            </a:r>
          </a:p>
        </p:txBody>
      </p:sp>
      <p:sp>
        <p:nvSpPr>
          <p:cNvPr id="3" name="why-answer">
            <a:extLst xmlns:a="http://schemas.openxmlformats.org/drawingml/2006/main">
              <a:ext uri="{FF2B5EF4-FFF2-40B4-BE49-F238E27FC236}">
                <a16:creationId xmlns:a16="http://schemas.microsoft.com/office/drawing/2014/main" id="{80592A6E-C01A-49EC-89E3-E9AAADC4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36C2FF"/>
                </a:solidFill>
              </a:defRPr>
            </a:pPr>
            <a:r>
              <a:rPr sz="4950" b="1">
                <a:solidFill>
                  <a:srgbClr val="36C2FF"/>
                </a:solidFill>
              </a:rPr>
              <a:t>Çünkü GÖKBEY</a:t>
            </a:r>
          </a:p>
          <a:p xmlns:a="http://schemas.openxmlformats.org/drawingml/2006/main">
            <a:pPr algn="l">
              <a:defRPr sz="4950" b="1">
                <a:solidFill>
                  <a:srgbClr val="36C2FF"/>
                </a:solidFill>
              </a:defRPr>
            </a:pPr>
            <a:r>
              <a:rPr sz="4950" b="1">
                <a:solidFill>
                  <a:srgbClr val="36C2FF"/>
                </a:solidFill>
              </a:rPr>
              <a:t>tarafındayım.</a:t>
            </a:r>
          </a:p>
        </p:txBody>
      </p:sp>
      <p:sp>
        <p:nvSpPr>
          <p:cNvPr id="4" name="why-body">
            <a:extLst xmlns:a="http://schemas.openxmlformats.org/drawingml/2006/main">
              <a:ext uri="{FF2B5EF4-FFF2-40B4-BE49-F238E27FC236}">
                <a16:creationId xmlns:a16="http://schemas.microsoft.com/office/drawing/2014/main" id="{58CC2190-EF9C-4C09-87EF-02E6FB09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5905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AFF"/>
                </a:solidFill>
              </a:defRPr>
            </a:pPr>
            <a:r>
              <a:rPr sz="2025" b="0">
                <a:solidFill>
                  <a:srgbClr val="F5FAFF"/>
                </a:solidFill>
              </a:rPr>
              <a:t>Cevap bundan daha karmaşık değil.</a:t>
            </a:r>
          </a:p>
          <a:p xmlns:a="http://schemas.openxmlformats.org/drawingml/2006/main">
            <a:pPr algn="l">
              <a:defRPr sz="2025" b="0">
                <a:solidFill>
                  <a:srgbClr val="F5FAFF"/>
                </a:solidFill>
              </a:defRPr>
            </a:pPr>
            <a:r>
              <a:rPr sz="2025" b="0">
                <a:solidFill>
                  <a:srgbClr val="F5FAFF"/>
                </a:solidFill>
              </a:rPr>
              <a:t>Staj yaptığım alanı oyunun temasına taşıdım;</a:t>
            </a:r>
          </a:p>
          <a:p xmlns:a="http://schemas.openxmlformats.org/drawingml/2006/main">
            <a:pPr algn="l">
              <a:defRPr sz="2025" b="0">
                <a:solidFill>
                  <a:srgbClr val="F5FAFF"/>
                </a:solidFill>
              </a:defRPr>
            </a:pPr>
            <a:r>
              <a:rPr sz="2025" b="0">
                <a:solidFill>
                  <a:srgbClr val="F5FAFF"/>
                </a:solidFill>
              </a:rPr>
              <a:t>resmî bir simülasyon yapmaya çalışmadım.</a:t>
            </a:r>
          </a:p>
        </p:txBody>
      </p:sp>
      <p:sp>
        <p:nvSpPr>
          <p:cNvPr id="5" name="why-note">
            <a:extLst xmlns:a="http://schemas.openxmlformats.org/drawingml/2006/main">
              <a:ext uri="{FF2B5EF4-FFF2-40B4-BE49-F238E27FC236}">
                <a16:creationId xmlns:a16="http://schemas.microsoft.com/office/drawing/2014/main" id="{E61D2CD5-880A-48FF-977C-0B743169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A3D"/>
                </a:solidFill>
              </a:defRPr>
            </a:pPr>
            <a:r>
              <a:rPr sz="1650" b="1">
                <a:solidFill>
                  <a:srgbClr val="FF6A3D"/>
                </a:solidFill>
              </a:rPr>
              <a:t>Helikopter generic ve mavi kaldı. Odağım marka değil, oynanıştı.</a:t>
            </a:r>
          </a:p>
        </p:txBody>
      </p:sp>
      <p:sp>
        <p:nvSpPr>
          <p:cNvPr id="6" name="Blue Rescue uçuş ekranı-frame">
            <a:extLst xmlns:a="http://schemas.openxmlformats.org/drawingml/2006/main">
              <a:ext uri="{FF2B5EF4-FFF2-40B4-BE49-F238E27FC236}">
                <a16:creationId xmlns:a16="http://schemas.microsoft.com/office/drawing/2014/main" id="{20A9A371-3ABF-4ECA-8891-11A62EEF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"/>
            <a:ext cx="2857500" cy="58864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6C2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043283da34862"/>
          <a:srcRect xmlns:a="http://schemas.openxmlformats.org/drawingml/2006/main" l="0" t="1734" r="0" b="17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34350" y="419100"/>
            <a:ext cx="2781300" cy="5810250"/>
          </a:xfrm>
          <a:prstGeom xmlns:a="http://schemas.openxmlformats.org/drawingml/2006/main" prst="roundRect">
            <a:avLst>
              <a:gd name="adj" fmla="val 8219"/>
            </a:avLst>
          </a:prstGeom>
        </p:spPr>
      </p:pic>
      <p:sp>
        <p:nvSpPr>
          <p:cNvPr id="8" name="footer-line-3">
            <a:extLst xmlns:a="http://schemas.openxmlformats.org/drawingml/2006/main">
              <a:ext uri="{FF2B5EF4-FFF2-40B4-BE49-F238E27FC236}">
                <a16:creationId xmlns:a16="http://schemas.microsoft.com/office/drawing/2014/main" id="{97E0B5A4-0F63-4FEE-AC72-166661F1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2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name-3">
            <a:extLst xmlns:a="http://schemas.openxmlformats.org/drawingml/2006/main">
              <a:ext uri="{FF2B5EF4-FFF2-40B4-BE49-F238E27FC236}">
                <a16:creationId xmlns:a16="http://schemas.microsoft.com/office/drawing/2014/main" id="{6AD6B8C0-9604-4818-AB87-FD440197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C6DC"/>
                </a:solidFill>
              </a:defRPr>
            </a:pPr>
            <a:r>
              <a:rPr sz="1050" b="1">
                <a:solidFill>
                  <a:srgbClr val="A9C6DC"/>
                </a:solidFill>
              </a:rPr>
              <a:t>MUHAMMED EREN GÖKCEOĞLU</a:t>
            </a:r>
          </a:p>
        </p:txBody>
      </p:sp>
      <p:sp>
        <p:nvSpPr>
          <p:cNvPr id="10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8D6D2CA1-DF11-4A47-AE14-86A39C2C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6DC"/>
                </a:solidFill>
              </a:defRPr>
            </a:pPr>
            <a:r>
              <a:rPr sz="1050" b="1">
                <a:solidFill>
                  <a:srgbClr val="A9C6D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187470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317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FD5A4396-F896-4063-B8CD-97D31892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C2FF"/>
                </a:solidFill>
              </a:defRPr>
            </a:pPr>
            <a:r>
              <a:rPr sz="1350" b="1">
                <a:solidFill>
                  <a:srgbClr val="36C2FF"/>
                </a:solidFill>
              </a:rPr>
              <a:t>İTERASYON</a:t>
            </a:r>
          </a:p>
        </p:txBody>
      </p:sp>
      <p:sp>
        <p:nvSpPr>
          <p:cNvPr id="2" name="iteration-title">
            <a:extLst xmlns:a="http://schemas.openxmlformats.org/drawingml/2006/main">
              <a:ext uri="{FF2B5EF4-FFF2-40B4-BE49-F238E27FC236}">
                <a16:creationId xmlns:a16="http://schemas.microsoft.com/office/drawing/2014/main" id="{82CECEAB-EDD5-4CB3-80B9-796A31F5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5FAFF"/>
                </a:solidFill>
              </a:defRPr>
            </a:pPr>
            <a:r>
              <a:rPr sz="3750" b="1">
                <a:solidFill>
                  <a:srgbClr val="F5FAFF"/>
                </a:solidFill>
              </a:rPr>
              <a:t>İlk sürüm çalışıyordu;</a:t>
            </a:r>
          </a:p>
          <a:p xmlns:a="http://schemas.openxmlformats.org/drawingml/2006/main">
            <a:pPr algn="l">
              <a:defRPr sz="3750" b="1">
                <a:solidFill>
                  <a:srgbClr val="F5FAFF"/>
                </a:solidFill>
              </a:defRPr>
            </a:pPr>
            <a:r>
              <a:rPr sz="3750" b="1">
                <a:solidFill>
                  <a:srgbClr val="F5FAFF"/>
                </a:solidFill>
              </a:rPr>
              <a:t>ama oyun gibi hissettirmiyordu.</a:t>
            </a:r>
          </a:p>
        </p:txBody>
      </p:sp>
      <p:sp>
        <p:nvSpPr>
          <p:cNvPr id="3" name="iteration-body">
            <a:extLst xmlns:a="http://schemas.openxmlformats.org/drawingml/2006/main">
              <a:ext uri="{FF2B5EF4-FFF2-40B4-BE49-F238E27FC236}">
                <a16:creationId xmlns:a16="http://schemas.microsoft.com/office/drawing/2014/main" id="{C21A5CA5-EB90-4B48-942B-BD085C4A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9C6DC"/>
                </a:solidFill>
              </a:defRPr>
            </a:pPr>
            <a:r>
              <a:rPr sz="1875" b="0">
                <a:solidFill>
                  <a:srgbClr val="A9C6DC"/>
                </a:solidFill>
              </a:rPr>
              <a:t>Sorun renk değildi. Hiyerarşi, tipografi, hareket ve geri bildirim zayıftı.</a:t>
            </a:r>
          </a:p>
        </p:txBody>
      </p:sp>
      <p:sp>
        <p:nvSpPr>
          <p:cNvPr id="4" name="Blue Rescue ilk menü tasarımı-frame">
            <a:extLst xmlns:a="http://schemas.openxmlformats.org/drawingml/2006/main">
              <a:ext uri="{FF2B5EF4-FFF2-40B4-BE49-F238E27FC236}">
                <a16:creationId xmlns:a16="http://schemas.microsoft.com/office/drawing/2014/main" id="{D781F97F-C9EF-4E43-B543-B54ABE70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81325"/>
            <a:ext cx="2152650" cy="2952750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1D5279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1c00ef09b43c9"/>
          <a:srcRect xmlns:a="http://schemas.openxmlformats.org/drawingml/2006/main" l="0" t="18074" r="0" b="180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4900" y="3009900"/>
            <a:ext cx="2095500" cy="2895600"/>
          </a:xfrm>
          <a:prstGeom xmlns:a="http://schemas.openxmlformats.org/drawingml/2006/main" prst="roundRect">
            <a:avLst>
              <a:gd name="adj" fmla="val 8182"/>
            </a:avLst>
          </a:prstGeom>
        </p:spPr>
      </p:pic>
      <p:sp>
        <p:nvSpPr>
          <p:cNvPr id="6" name="iteration-before">
            <a:extLst xmlns:a="http://schemas.openxmlformats.org/drawingml/2006/main">
              <a:ext uri="{FF2B5EF4-FFF2-40B4-BE49-F238E27FC236}">
                <a16:creationId xmlns:a16="http://schemas.microsoft.com/office/drawing/2014/main" id="{E0D1942D-BF27-48CF-9018-D434CD73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000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9C6DC"/>
                </a:solidFill>
              </a:defRPr>
            </a:pPr>
            <a:r>
              <a:rPr sz="1425" b="1">
                <a:solidFill>
                  <a:srgbClr val="A9C6DC"/>
                </a:solidFill>
              </a:rPr>
              <a:t>ÖNCE</a:t>
            </a:r>
          </a:p>
        </p:txBody>
      </p:sp>
      <p:sp>
        <p:nvSpPr>
          <p:cNvPr id="7" name="iteration-arrow">
            <a:extLst xmlns:a="http://schemas.openxmlformats.org/drawingml/2006/main">
              <a:ext uri="{FF2B5EF4-FFF2-40B4-BE49-F238E27FC236}">
                <a16:creationId xmlns:a16="http://schemas.microsoft.com/office/drawing/2014/main" id="{5E2CFC42-2FF1-4005-BBE7-8F16EC93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38600"/>
            <a:ext cx="114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6A3D"/>
                </a:solidFill>
              </a:defRPr>
            </a:pPr>
            <a:r>
              <a:rPr sz="4800" b="1">
                <a:solidFill>
                  <a:srgbClr val="FF6A3D"/>
                </a:solidFill>
              </a:rPr>
              <a:t>→</a:t>
            </a:r>
          </a:p>
        </p:txBody>
      </p:sp>
      <p:sp>
        <p:nvSpPr>
          <p:cNvPr id="8" name="Blue Rescue yenilenmiş menü tasarımı-frame">
            <a:extLst xmlns:a="http://schemas.openxmlformats.org/drawingml/2006/main">
              <a:ext uri="{FF2B5EF4-FFF2-40B4-BE49-F238E27FC236}">
                <a16:creationId xmlns:a16="http://schemas.microsoft.com/office/drawing/2014/main" id="{DA8C0C49-AD77-4FFD-BA3F-33306FE5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81300"/>
            <a:ext cx="2457450" cy="33528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36C2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a35b870b143b3"/>
          <a:srcRect xmlns:a="http://schemas.openxmlformats.org/drawingml/2006/main" l="0" t="18209" r="0" b="182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95900" y="2819400"/>
            <a:ext cx="2381250" cy="3276600"/>
          </a:xfrm>
          <a:prstGeom xmlns:a="http://schemas.openxmlformats.org/drawingml/2006/main" prst="roundRect">
            <a:avLst>
              <a:gd name="adj" fmla="val 7200"/>
            </a:avLst>
          </a:prstGeom>
        </p:spPr>
      </p:pic>
      <p:sp>
        <p:nvSpPr>
          <p:cNvPr id="10" name="iteration-after">
            <a:extLst xmlns:a="http://schemas.openxmlformats.org/drawingml/2006/main">
              <a:ext uri="{FF2B5EF4-FFF2-40B4-BE49-F238E27FC236}">
                <a16:creationId xmlns:a16="http://schemas.microsoft.com/office/drawing/2014/main" id="{D04FB407-7722-4DF6-90F8-B59FB06D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6153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6C2FF"/>
                </a:solidFill>
              </a:defRPr>
            </a:pPr>
            <a:r>
              <a:rPr sz="1425" b="1">
                <a:solidFill>
                  <a:srgbClr val="36C2FF"/>
                </a:solidFill>
              </a:rPr>
              <a:t>SONRA</a:t>
            </a:r>
          </a:p>
        </p:txBody>
      </p:sp>
      <p:sp>
        <p:nvSpPr>
          <p:cNvPr id="11" name="iteration-list">
            <a:extLst xmlns:a="http://schemas.openxmlformats.org/drawingml/2006/main">
              <a:ext uri="{FF2B5EF4-FFF2-40B4-BE49-F238E27FC236}">
                <a16:creationId xmlns:a16="http://schemas.microsoft.com/office/drawing/2014/main" id="{F354AF5D-5F8B-4317-9051-92FD0A58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38500"/>
            <a:ext cx="30480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AFF"/>
                </a:solidFill>
              </a:defRPr>
            </a:pPr>
            <a:r>
              <a:rPr sz="2025" b="1">
                <a:solidFill>
                  <a:srgbClr val="F5FAFF"/>
                </a:solidFill>
              </a:rPr>
              <a:t>Daha net başlık</a:t>
            </a:r>
          </a:p>
          <a:p xmlns:a="http://schemas.openxmlformats.org/drawingml/2006/main">
            <a:pPr algn="l">
              <a:defRPr sz="2025" b="1">
                <a:solidFill>
                  <a:srgbClr val="F5FAFF"/>
                </a:solidFill>
              </a:defRPr>
            </a:pPr>
            <a:r>
              <a:rPr sz="2025" b="1">
                <a:solidFill>
                  <a:srgbClr val="F5FAFF"/>
                </a:solidFill>
              </a:rPr>
              <a:t>Tek güçlü başlangıç butonu</a:t>
            </a:r>
          </a:p>
          <a:p xmlns:a="http://schemas.openxmlformats.org/drawingml/2006/main">
            <a:pPr algn="l">
              <a:defRPr sz="2025" b="1">
                <a:solidFill>
                  <a:srgbClr val="F5FAFF"/>
                </a:solidFill>
              </a:defRPr>
            </a:pPr>
            <a:r>
              <a:rPr sz="2025" b="1">
                <a:solidFill>
                  <a:srgbClr val="F5FAFF"/>
                </a:solidFill>
              </a:rPr>
              <a:t>Hareketli helikopter ve rotor</a:t>
            </a:r>
          </a:p>
          <a:p xmlns:a="http://schemas.openxmlformats.org/drawingml/2006/main">
            <a:pPr algn="l">
              <a:defRPr sz="2025" b="1">
                <a:solidFill>
                  <a:srgbClr val="F5FAFF"/>
                </a:solidFill>
              </a:defRPr>
            </a:pPr>
            <a:r>
              <a:rPr sz="2025" b="1">
                <a:solidFill>
                  <a:srgbClr val="F5FAFF"/>
                </a:solidFill>
              </a:rPr>
              <a:t>Daha okunaklı bilgi sırası</a:t>
            </a:r>
          </a:p>
        </p:txBody>
      </p:sp>
      <p:sp>
        <p:nvSpPr>
          <p:cNvPr id="12" name="footer-line-4">
            <a:extLst xmlns:a="http://schemas.openxmlformats.org/drawingml/2006/main">
              <a:ext uri="{FF2B5EF4-FFF2-40B4-BE49-F238E27FC236}">
                <a16:creationId xmlns:a16="http://schemas.microsoft.com/office/drawing/2014/main" id="{CF548F0B-7C5C-4956-9883-9219DCAF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2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name-4">
            <a:extLst xmlns:a="http://schemas.openxmlformats.org/drawingml/2006/main">
              <a:ext uri="{FF2B5EF4-FFF2-40B4-BE49-F238E27FC236}">
                <a16:creationId xmlns:a16="http://schemas.microsoft.com/office/drawing/2014/main" id="{A07B15FD-F3BD-42F4-99B4-F75F56AB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C6DC"/>
                </a:solidFill>
              </a:defRPr>
            </a:pPr>
            <a:r>
              <a:rPr sz="1050" b="1">
                <a:solidFill>
                  <a:srgbClr val="A9C6DC"/>
                </a:solidFill>
              </a:rPr>
              <a:t>MUHAMMED EREN GÖKCEOĞLU</a:t>
            </a:r>
          </a:p>
        </p:txBody>
      </p:sp>
      <p:sp>
        <p:nvSpPr>
          <p:cNvPr id="14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3582727D-9C98-407F-8B00-64F386BA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6DC"/>
                </a:solidFill>
              </a:defRPr>
            </a:pPr>
            <a:r>
              <a:rPr sz="1050" b="1">
                <a:solidFill>
                  <a:srgbClr val="A9C6D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350540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2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D3505FAB-D1C3-44D4-A90F-6AC8CA51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C2FF"/>
                </a:solidFill>
              </a:defRPr>
            </a:pPr>
            <a:r>
              <a:rPr sz="1350" b="1">
                <a:solidFill>
                  <a:srgbClr val="36C2FF"/>
                </a:solidFill>
              </a:rPr>
              <a:t>OYUNCU DENEYİMİ</a:t>
            </a:r>
          </a:p>
        </p:txBody>
      </p:sp>
      <p:sp>
        <p:nvSpPr>
          <p:cNvPr id="2" name="loop-title">
            <a:extLst xmlns:a="http://schemas.openxmlformats.org/drawingml/2006/main">
              <a:ext uri="{FF2B5EF4-FFF2-40B4-BE49-F238E27FC236}">
                <a16:creationId xmlns:a16="http://schemas.microsoft.com/office/drawing/2014/main" id="{CB53C863-AAE1-4E33-988F-1259889F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AFF"/>
                </a:solidFill>
              </a:defRPr>
            </a:pPr>
            <a:r>
              <a:rPr sz="4350" b="1">
                <a:solidFill>
                  <a:srgbClr val="F5FAFF"/>
                </a:solidFill>
              </a:rPr>
              <a:t>Döngü basit kaldı.</a:t>
            </a:r>
          </a:p>
        </p:txBody>
      </p:sp>
      <p:sp>
        <p:nvSpPr>
          <p:cNvPr id="3" name="loop-subtitle">
            <a:extLst xmlns:a="http://schemas.openxmlformats.org/drawingml/2006/main">
              <a:ext uri="{FF2B5EF4-FFF2-40B4-BE49-F238E27FC236}">
                <a16:creationId xmlns:a16="http://schemas.microsoft.com/office/drawing/2014/main" id="{2ED99F68-A28A-4C06-B94E-8CD31D36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9C6DC"/>
                </a:solidFill>
              </a:defRPr>
            </a:pPr>
            <a:r>
              <a:rPr sz="1950" b="0">
                <a:solidFill>
                  <a:srgbClr val="A9C6DC"/>
                </a:solidFill>
              </a:rPr>
              <a:t>Başla, uç, kurtar, kaçın, skorunu gör ve yeniden dene.</a:t>
            </a:r>
          </a:p>
        </p:txBody>
      </p:sp>
      <p:sp>
        <p:nvSpPr>
          <p:cNvPr id="4" name="UÇUŞA BAŞLA-frame">
            <a:extLst xmlns:a="http://schemas.openxmlformats.org/drawingml/2006/main">
              <a:ext uri="{FF2B5EF4-FFF2-40B4-BE49-F238E27FC236}">
                <a16:creationId xmlns:a16="http://schemas.microsoft.com/office/drawing/2014/main" id="{B35D7570-8EA8-45DB-ACA9-F644CF7F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619375"/>
            <a:ext cx="2209800" cy="3009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D5279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275b523104fa9"/>
          <a:srcRect xmlns:a="http://schemas.openxmlformats.org/drawingml/2006/main" l="0" t="18308" r="0" b="183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" y="2647950"/>
            <a:ext cx="2152650" cy="2952750"/>
          </a:xfrm>
          <a:prstGeom xmlns:a="http://schemas.openxmlformats.org/drawingml/2006/main" prst="roundRect">
            <a:avLst>
              <a:gd name="adj" fmla="val 7080"/>
            </a:avLst>
          </a:prstGeom>
        </p:spPr>
      </p:pic>
      <p:sp>
        <p:nvSpPr>
          <p:cNvPr id="6" name="loop-no-01">
            <a:extLst xmlns:a="http://schemas.openxmlformats.org/drawingml/2006/main">
              <a:ext uri="{FF2B5EF4-FFF2-40B4-BE49-F238E27FC236}">
                <a16:creationId xmlns:a16="http://schemas.microsoft.com/office/drawing/2014/main" id="{AF7FBA1A-3798-4E64-91A5-EB6EFD6A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72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A3D"/>
                </a:solidFill>
              </a:defRPr>
            </a:pPr>
            <a:r>
              <a:rPr sz="1500" b="1">
                <a:solidFill>
                  <a:srgbClr val="FF6A3D"/>
                </a:solidFill>
              </a:rPr>
              <a:t>01</a:t>
            </a:r>
          </a:p>
        </p:txBody>
      </p:sp>
      <p:sp>
        <p:nvSpPr>
          <p:cNvPr id="7" name="loop-label-01">
            <a:extLst xmlns:a="http://schemas.openxmlformats.org/drawingml/2006/main">
              <a:ext uri="{FF2B5EF4-FFF2-40B4-BE49-F238E27FC236}">
                <a16:creationId xmlns:a16="http://schemas.microsoft.com/office/drawing/2014/main" id="{68F28DCB-5B38-4545-A210-02A2D96E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531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AFF"/>
                </a:solidFill>
              </a:defRPr>
            </a:pPr>
            <a:r>
              <a:rPr sz="1500" b="1">
                <a:solidFill>
                  <a:srgbClr val="F5FAFF"/>
                </a:solidFill>
              </a:rPr>
              <a:t>UÇUŞA BAŞLA</a:t>
            </a:r>
          </a:p>
        </p:txBody>
      </p:sp>
      <p:sp>
        <p:nvSpPr>
          <p:cNvPr id="8" name="ROTAYI YÖNET-frame">
            <a:extLst xmlns:a="http://schemas.openxmlformats.org/drawingml/2006/main">
              <a:ext uri="{FF2B5EF4-FFF2-40B4-BE49-F238E27FC236}">
                <a16:creationId xmlns:a16="http://schemas.microsoft.com/office/drawing/2014/main" id="{60025D89-61E6-4181-BBB0-2A8EC5A0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19375"/>
            <a:ext cx="2209800" cy="3009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D5279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fe12b22cc4501"/>
          <a:srcRect xmlns:a="http://schemas.openxmlformats.org/drawingml/2006/main" l="0" t="18308" r="0" b="183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2647950"/>
            <a:ext cx="2152650" cy="2952750"/>
          </a:xfrm>
          <a:prstGeom xmlns:a="http://schemas.openxmlformats.org/drawingml/2006/main" prst="roundRect">
            <a:avLst>
              <a:gd name="adj" fmla="val 7080"/>
            </a:avLst>
          </a:prstGeom>
        </p:spPr>
      </p:pic>
      <p:sp>
        <p:nvSpPr>
          <p:cNvPr id="10" name="loop-no-02">
            <a:extLst xmlns:a="http://schemas.openxmlformats.org/drawingml/2006/main">
              <a:ext uri="{FF2B5EF4-FFF2-40B4-BE49-F238E27FC236}">
                <a16:creationId xmlns:a16="http://schemas.microsoft.com/office/drawing/2014/main" id="{4C2BD443-F16C-4152-B7E3-CEAD9EC3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772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A3D"/>
                </a:solidFill>
              </a:defRPr>
            </a:pPr>
            <a:r>
              <a:rPr sz="1500" b="1">
                <a:solidFill>
                  <a:srgbClr val="FF6A3D"/>
                </a:solidFill>
              </a:rPr>
              <a:t>02</a:t>
            </a:r>
          </a:p>
        </p:txBody>
      </p:sp>
      <p:sp>
        <p:nvSpPr>
          <p:cNvPr id="11" name="loop-label-02">
            <a:extLst xmlns:a="http://schemas.openxmlformats.org/drawingml/2006/main">
              <a:ext uri="{FF2B5EF4-FFF2-40B4-BE49-F238E27FC236}">
                <a16:creationId xmlns:a16="http://schemas.microsoft.com/office/drawing/2014/main" id="{AE8FF49F-A133-4C47-8A70-E1FAD559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7531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AFF"/>
                </a:solidFill>
              </a:defRPr>
            </a:pPr>
            <a:r>
              <a:rPr sz="1500" b="1">
                <a:solidFill>
                  <a:srgbClr val="F5FAFF"/>
                </a:solidFill>
              </a:rPr>
              <a:t>ROTAYI YÖNET</a:t>
            </a:r>
          </a:p>
        </p:txBody>
      </p:sp>
      <p:sp>
        <p:nvSpPr>
          <p:cNvPr id="12" name="YENİDEN DENE-frame">
            <a:extLst xmlns:a="http://schemas.openxmlformats.org/drawingml/2006/main">
              <a:ext uri="{FF2B5EF4-FFF2-40B4-BE49-F238E27FC236}">
                <a16:creationId xmlns:a16="http://schemas.microsoft.com/office/drawing/2014/main" id="{C4DB2587-CC58-41CB-B519-D67D7F08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19375"/>
            <a:ext cx="2209800" cy="3009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D5279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5c3c4d2724ac6"/>
          <a:srcRect xmlns:a="http://schemas.openxmlformats.org/drawingml/2006/main" l="0" t="18308" r="0" b="183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53400" y="2647950"/>
            <a:ext cx="2152650" cy="2952750"/>
          </a:xfrm>
          <a:prstGeom xmlns:a="http://schemas.openxmlformats.org/drawingml/2006/main" prst="roundRect">
            <a:avLst>
              <a:gd name="adj" fmla="val 7080"/>
            </a:avLst>
          </a:prstGeom>
        </p:spPr>
      </p:pic>
      <p:sp>
        <p:nvSpPr>
          <p:cNvPr id="14" name="loop-no-03">
            <a:extLst xmlns:a="http://schemas.openxmlformats.org/drawingml/2006/main">
              <a:ext uri="{FF2B5EF4-FFF2-40B4-BE49-F238E27FC236}">
                <a16:creationId xmlns:a16="http://schemas.microsoft.com/office/drawing/2014/main" id="{2A79C2A4-A146-48B8-BF42-37E565DD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7721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A3D"/>
                </a:solidFill>
              </a:defRPr>
            </a:pPr>
            <a:r>
              <a:rPr sz="1500" b="1">
                <a:solidFill>
                  <a:srgbClr val="FF6A3D"/>
                </a:solidFill>
              </a:rPr>
              <a:t>03</a:t>
            </a:r>
          </a:p>
        </p:txBody>
      </p:sp>
      <p:sp>
        <p:nvSpPr>
          <p:cNvPr id="15" name="loop-label-03">
            <a:extLst xmlns:a="http://schemas.openxmlformats.org/drawingml/2006/main">
              <a:ext uri="{FF2B5EF4-FFF2-40B4-BE49-F238E27FC236}">
                <a16:creationId xmlns:a16="http://schemas.microsoft.com/office/drawing/2014/main" id="{46CECFDA-7300-4445-8BE9-C0E46EDE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753100"/>
            <a:ext cx="163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AFF"/>
                </a:solidFill>
              </a:defRPr>
            </a:pPr>
            <a:r>
              <a:rPr sz="1500" b="1">
                <a:solidFill>
                  <a:srgbClr val="F5FAFF"/>
                </a:solidFill>
              </a:rPr>
              <a:t>YENİDEN DENE</a:t>
            </a:r>
          </a:p>
        </p:txBody>
      </p:sp>
      <p:sp>
        <p:nvSpPr>
          <p:cNvPr id="16" name="footer-line-5">
            <a:extLst xmlns:a="http://schemas.openxmlformats.org/drawingml/2006/main">
              <a:ext uri="{FF2B5EF4-FFF2-40B4-BE49-F238E27FC236}">
                <a16:creationId xmlns:a16="http://schemas.microsoft.com/office/drawing/2014/main" id="{08AAA4B5-1722-4B7D-9FFF-C7150039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2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name-5">
            <a:extLst xmlns:a="http://schemas.openxmlformats.org/drawingml/2006/main">
              <a:ext uri="{FF2B5EF4-FFF2-40B4-BE49-F238E27FC236}">
                <a16:creationId xmlns:a16="http://schemas.microsoft.com/office/drawing/2014/main" id="{0E7ADE1B-5747-446F-BFA8-D5399ADD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C6DC"/>
                </a:solidFill>
              </a:defRPr>
            </a:pPr>
            <a:r>
              <a:rPr sz="1050" b="1">
                <a:solidFill>
                  <a:srgbClr val="A9C6DC"/>
                </a:solidFill>
              </a:rPr>
              <a:t>MUHAMMED EREN GÖKCEOĞLU</a:t>
            </a:r>
          </a:p>
        </p:txBody>
      </p:sp>
      <p:sp>
        <p:nvSpPr>
          <p:cNvPr id="18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11A25CE8-42E9-45F1-B069-E1020E29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6DC"/>
                </a:solidFill>
              </a:defRPr>
            </a:pPr>
            <a:r>
              <a:rPr sz="1050" b="1">
                <a:solidFill>
                  <a:srgbClr val="A9C6D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950034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317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1325B7A1-0A9A-4A7F-9320-7AD06571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C2FF"/>
                </a:solidFill>
              </a:defRPr>
            </a:pPr>
            <a:r>
              <a:rPr sz="1350" b="1">
                <a:solidFill>
                  <a:srgbClr val="36C2FF"/>
                </a:solidFill>
              </a:rPr>
              <a:t>OYUN HİSSİ</a:t>
            </a:r>
          </a:p>
        </p:txBody>
      </p:sp>
      <p:sp>
        <p:nvSpPr>
          <p:cNvPr id="2" name="feel-title">
            <a:extLst xmlns:a="http://schemas.openxmlformats.org/drawingml/2006/main">
              <a:ext uri="{FF2B5EF4-FFF2-40B4-BE49-F238E27FC236}">
                <a16:creationId xmlns:a16="http://schemas.microsoft.com/office/drawing/2014/main" id="{731AC7AA-6A18-4994-A75C-609B5BC0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5810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AFF"/>
                </a:solidFill>
              </a:defRPr>
            </a:pPr>
            <a:r>
              <a:rPr sz="4350" b="1">
                <a:solidFill>
                  <a:srgbClr val="F5FAFF"/>
                </a:solidFill>
              </a:rPr>
              <a:t>Son dokunuşlar,</a:t>
            </a:r>
          </a:p>
          <a:p xmlns:a="http://schemas.openxmlformats.org/drawingml/2006/main">
            <a:pPr algn="l">
              <a:defRPr sz="4350" b="1">
                <a:solidFill>
                  <a:srgbClr val="F5FAFF"/>
                </a:solidFill>
              </a:defRPr>
            </a:pPr>
            <a:r>
              <a:rPr sz="4350" b="1">
                <a:solidFill>
                  <a:srgbClr val="F5FAFF"/>
                </a:solidFill>
              </a:rPr>
              <a:t>oyunu değiştirdi.</a:t>
            </a:r>
          </a:p>
        </p:txBody>
      </p:sp>
      <p:sp>
        <p:nvSpPr>
          <p:cNvPr id="3" name="feel-lead">
            <a:extLst xmlns:a="http://schemas.openxmlformats.org/drawingml/2006/main">
              <a:ext uri="{FF2B5EF4-FFF2-40B4-BE49-F238E27FC236}">
                <a16:creationId xmlns:a16="http://schemas.microsoft.com/office/drawing/2014/main" id="{37EAB723-FDFF-42E6-8582-DCF9BABD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542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9C6DC"/>
                </a:solidFill>
              </a:defRPr>
            </a:pPr>
            <a:r>
              <a:rPr sz="1950" b="0">
                <a:solidFill>
                  <a:srgbClr val="A9C6DC"/>
                </a:solidFill>
              </a:rPr>
              <a:t>Yeni özelliklerden çok, mevcut anların daha iyi hissettirmesine çalıştım.</a:t>
            </a:r>
          </a:p>
        </p:txBody>
      </p:sp>
      <p:sp>
        <p:nvSpPr>
          <p:cNvPr id="4" name="feel-line">
            <a:extLst xmlns:a="http://schemas.openxmlformats.org/drawingml/2006/main">
              <a:ext uri="{FF2B5EF4-FFF2-40B4-BE49-F238E27FC236}">
                <a16:creationId xmlns:a16="http://schemas.microsoft.com/office/drawing/2014/main" id="{32C47657-837F-416B-88C0-6B68189D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447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eel-list">
            <a:extLst xmlns:a="http://schemas.openxmlformats.org/drawingml/2006/main">
              <a:ext uri="{FF2B5EF4-FFF2-40B4-BE49-F238E27FC236}">
                <a16:creationId xmlns:a16="http://schemas.microsoft.com/office/drawing/2014/main" id="{5E0322BA-9344-49CE-A3E7-7B2C5AF5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56197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5FAFF"/>
                </a:solidFill>
              </a:defRPr>
            </a:pPr>
            <a:r>
              <a:rPr sz="1725" b="0">
                <a:solidFill>
                  <a:srgbClr val="F5FAFF"/>
                </a:solidFill>
              </a:rPr>
              <a:t>Helikopter yükselirken ve düşerken eğiliyor.</a:t>
            </a:r>
          </a:p>
          <a:p xmlns:a="http://schemas.openxmlformats.org/drawingml/2006/main">
            <a:pPr algn="l">
              <a:defRPr sz="1725" b="0">
                <a:solidFill>
                  <a:srgbClr val="F5FAFF"/>
                </a:solidFill>
              </a:defRPr>
            </a:pPr>
            <a:r>
              <a:rPr sz="1725" b="0">
                <a:solidFill>
                  <a:srgbClr val="F5FAFF"/>
                </a:solidFill>
              </a:rPr>
              <a:t>Rotor daha canlı dönüyor.</a:t>
            </a:r>
          </a:p>
          <a:p xmlns:a="http://schemas.openxmlformats.org/drawingml/2006/main">
            <a:pPr algn="l">
              <a:defRPr sz="1725" b="0">
                <a:solidFill>
                  <a:srgbClr val="F5FAFF"/>
                </a:solidFill>
              </a:defRPr>
            </a:pPr>
            <a:r>
              <a:rPr sz="1725" b="0">
                <a:solidFill>
                  <a:srgbClr val="F5FAFF"/>
                </a:solidFill>
              </a:rPr>
              <a:t>Kurtarma alanı nefes alır gibi atıyor.</a:t>
            </a:r>
          </a:p>
          <a:p xmlns:a="http://schemas.openxmlformats.org/drawingml/2006/main">
            <a:pPr algn="l">
              <a:defRPr sz="1725" b="0">
                <a:solidFill>
                  <a:srgbClr val="F5FAFF"/>
                </a:solidFill>
              </a:defRPr>
            </a:pPr>
            <a:r>
              <a:rPr sz="1725" b="0">
                <a:solidFill>
                  <a:srgbClr val="F5FAFF"/>
                </a:solidFill>
              </a:rPr>
              <a:t>Skor ve seri vurgu alıyor.</a:t>
            </a:r>
          </a:p>
          <a:p xmlns:a="http://schemas.openxmlformats.org/drawingml/2006/main">
            <a:pPr algn="l">
              <a:defRPr sz="1725" b="0">
                <a:solidFill>
                  <a:srgbClr val="F5FAFF"/>
                </a:solidFill>
              </a:defRPr>
            </a:pPr>
            <a:r>
              <a:rPr sz="1725" b="0">
                <a:solidFill>
                  <a:srgbClr val="F5FAFF"/>
                </a:solidFill>
              </a:rPr>
              <a:t>Çarpışma kısa bir duraklama ve sarsıntıyla hissediliyor.</a:t>
            </a:r>
          </a:p>
        </p:txBody>
      </p:sp>
      <p:sp>
        <p:nvSpPr>
          <p:cNvPr id="6" name="Cilalanmış Blue Rescue oynanış ekranı-frame">
            <a:extLst xmlns:a="http://schemas.openxmlformats.org/drawingml/2006/main">
              <a:ext uri="{FF2B5EF4-FFF2-40B4-BE49-F238E27FC236}">
                <a16:creationId xmlns:a16="http://schemas.microsoft.com/office/drawing/2014/main" id="{02CBF6F4-EA9C-40FD-B434-DAD85B8D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0050"/>
            <a:ext cx="2857500" cy="5867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6C2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5d255b85a4f47"/>
          <a:srcRect xmlns:a="http://schemas.openxmlformats.org/drawingml/2006/main" l="0" t="1892" r="0" b="18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81950" y="438150"/>
            <a:ext cx="2781300" cy="5791200"/>
          </a:xfrm>
          <a:prstGeom xmlns:a="http://schemas.openxmlformats.org/drawingml/2006/main" prst="roundRect">
            <a:avLst>
              <a:gd name="adj" fmla="val 8219"/>
            </a:avLst>
          </a:prstGeom>
        </p:spPr>
      </p:pic>
      <p:sp>
        <p:nvSpPr>
          <p:cNvPr id="8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FAF6913F-8D25-4AD7-BF9A-063EE5A6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2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name-6">
            <a:extLst xmlns:a="http://schemas.openxmlformats.org/drawingml/2006/main">
              <a:ext uri="{FF2B5EF4-FFF2-40B4-BE49-F238E27FC236}">
                <a16:creationId xmlns:a16="http://schemas.microsoft.com/office/drawing/2014/main" id="{0318E0ED-F0A0-4C6D-AD29-A0AF4594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C6DC"/>
                </a:solidFill>
              </a:defRPr>
            </a:pPr>
            <a:r>
              <a:rPr sz="1050" b="1">
                <a:solidFill>
                  <a:srgbClr val="A9C6DC"/>
                </a:solidFill>
              </a:rPr>
              <a:t>MUHAMMED EREN GÖKCEOĞLU</a:t>
            </a:r>
          </a:p>
        </p:txBody>
      </p:sp>
      <p:sp>
        <p:nvSpPr>
          <p:cNvPr id="1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186CBF7C-E8E0-4A05-97D2-B1C00837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6DC"/>
                </a:solidFill>
              </a:defRPr>
            </a:pPr>
            <a:r>
              <a:rPr sz="1050" b="1">
                <a:solidFill>
                  <a:srgbClr val="A9C6D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540400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2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lose-top">
            <a:extLst xmlns:a="http://schemas.openxmlformats.org/drawingml/2006/main">
              <a:ext uri="{FF2B5EF4-FFF2-40B4-BE49-F238E27FC236}">
                <a16:creationId xmlns:a16="http://schemas.microsoft.com/office/drawing/2014/main" id="{E82C92A6-847A-405A-B58A-23E2254E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D43D2EE9-74FA-4C4E-B756-B3704AAE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A3D"/>
                </a:solidFill>
              </a:defRPr>
            </a:pPr>
            <a:r>
              <a:rPr sz="1575" b="1">
                <a:solidFill>
                  <a:srgbClr val="FF6A3D"/>
                </a:solidFill>
              </a:rPr>
              <a:t>SKY OLİMPİYATLARI</a:t>
            </a:r>
          </a:p>
        </p:txBody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E445C89-9D78-422F-94D6-67C9D0D6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7810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5FAFF"/>
                </a:solidFill>
              </a:defRPr>
            </a:pPr>
            <a:r>
              <a:rPr sz="4650" b="1">
                <a:solidFill>
                  <a:srgbClr val="F5FAFF"/>
                </a:solidFill>
              </a:rPr>
              <a:t>Anlatmak yerine</a:t>
            </a:r>
          </a:p>
          <a:p xmlns:a="http://schemas.openxmlformats.org/drawingml/2006/main">
            <a:pPr algn="l">
              <a:defRPr sz="4650" b="1">
                <a:solidFill>
                  <a:srgbClr val="F5FAFF"/>
                </a:solidFill>
              </a:defRPr>
            </a:pPr>
            <a:r>
              <a:rPr sz="4650" b="1">
                <a:solidFill>
                  <a:srgbClr val="F5FAFF"/>
                </a:solidFill>
              </a:rPr>
              <a:t>oynatılabilen bir şey yaptım.</a:t>
            </a:r>
          </a:p>
        </p:txBody>
      </p:sp>
      <p:sp>
        <p:nvSpPr>
          <p:cNvPr id="4" name="close-body">
            <a:extLst xmlns:a="http://schemas.openxmlformats.org/drawingml/2006/main">
              <a:ext uri="{FF2B5EF4-FFF2-40B4-BE49-F238E27FC236}">
                <a16:creationId xmlns:a16="http://schemas.microsoft.com/office/drawing/2014/main" id="{B7647F88-9436-40F0-BE92-7DED61E47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36C2FF"/>
                </a:solidFill>
              </a:defRPr>
            </a:pPr>
            <a:r>
              <a:rPr sz="2250" b="0">
                <a:solidFill>
                  <a:srgbClr val="36C2FF"/>
                </a:solidFill>
              </a:rPr>
              <a:t>Küçük kaldı. Tamamlandı. Oynanıyor.</a:t>
            </a:r>
          </a:p>
        </p:txBody>
      </p:sp>
      <p:sp>
        <p:nvSpPr>
          <p:cNvPr id="5" name="close-learned">
            <a:extLst xmlns:a="http://schemas.openxmlformats.org/drawingml/2006/main">
              <a:ext uri="{FF2B5EF4-FFF2-40B4-BE49-F238E27FC236}">
                <a16:creationId xmlns:a16="http://schemas.microsoft.com/office/drawing/2014/main" id="{2E45DB04-FBFD-422E-BDEA-B87A3D38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AFF"/>
                </a:solidFill>
              </a:defRPr>
            </a:pPr>
            <a:r>
              <a:rPr sz="1950" b="0">
                <a:solidFill>
                  <a:srgbClr val="F5FAFF"/>
                </a:solidFill>
              </a:rPr>
              <a:t>Benim için sonuçtan daha önemli olan şey, ilk fikre bağlı kalıp geri bildirimle defalarca düzeltmekti.</a:t>
            </a:r>
          </a:p>
        </p:txBody>
      </p:sp>
      <p:sp>
        <p:nvSpPr>
          <p:cNvPr id="6" name="close-url">
            <a:extLst xmlns:a="http://schemas.openxmlformats.org/drawingml/2006/main">
              <a:ext uri="{FF2B5EF4-FFF2-40B4-BE49-F238E27FC236}">
                <a16:creationId xmlns:a16="http://schemas.microsoft.com/office/drawing/2014/main" id="{10827C57-DE19-4428-8775-D18CC464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6F55F"/>
                </a:solidFill>
              </a:defRPr>
            </a:pPr>
            <a:r>
              <a:rPr sz="1800" b="1">
                <a:solidFill>
                  <a:srgbClr val="D6F55F"/>
                </a:solidFill>
              </a:rPr>
              <a:t>volitanlabs.dev/tr/blue-rescue</a:t>
            </a:r>
          </a:p>
        </p:txBody>
      </p:sp>
      <p:sp>
        <p:nvSpPr>
          <p:cNvPr id="7" name="qr-surface">
            <a:extLst xmlns:a="http://schemas.openxmlformats.org/drawingml/2006/main">
              <a:ext uri="{FF2B5EF4-FFF2-40B4-BE49-F238E27FC236}">
                <a16:creationId xmlns:a16="http://schemas.microsoft.com/office/drawing/2014/main" id="{720AB9A0-ADD7-4949-8AAC-D73289C7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2476500" cy="304800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F5FA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4129a8def648bb">
            <a:extLst>
              <a:ext uri="{96DAC541-7B7A-43D3-8B79-37D633B846F1}">
                <asvg:svgBlip xmlns:asvg="http://schemas.microsoft.com/office/drawing/2016/SVG/main" r:embed="Rb0d22bf8588d41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77300" y="1981200"/>
            <a:ext cx="1866900" cy="1866900"/>
          </a:xfrm>
          <a:prstGeom xmlns:a="http://schemas.openxmlformats.org/drawingml/2006/main" prst="rect">
            <a:avLst/>
          </a:prstGeom>
        </p:spPr>
      </p:pic>
      <p:sp>
        <p:nvSpPr>
          <p:cNvPr id="9" name="qr-label">
            <a:extLst xmlns:a="http://schemas.openxmlformats.org/drawingml/2006/main">
              <a:ext uri="{FF2B5EF4-FFF2-40B4-BE49-F238E27FC236}">
                <a16:creationId xmlns:a16="http://schemas.microsoft.com/office/drawing/2014/main" id="{5E0ED7B5-5664-45B0-99E1-2C816673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386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3172D"/>
                </a:solidFill>
              </a:defRPr>
            </a:pPr>
            <a:r>
              <a:rPr sz="1875" b="1">
                <a:solidFill>
                  <a:srgbClr val="03172D"/>
                </a:solidFill>
              </a:rPr>
              <a:t>CANLI DEMO</a:t>
            </a:r>
          </a:p>
        </p:txBody>
      </p:sp>
      <p:sp>
        <p:nvSpPr>
          <p:cNvPr id="10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09872D8F-C578-498A-9418-910240A4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2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-name-7">
            <a:extLst xmlns:a="http://schemas.openxmlformats.org/drawingml/2006/main">
              <a:ext uri="{FF2B5EF4-FFF2-40B4-BE49-F238E27FC236}">
                <a16:creationId xmlns:a16="http://schemas.microsoft.com/office/drawing/2014/main" id="{E4150C95-9F27-4D35-9E70-81518A8A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055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C6DC"/>
                </a:solidFill>
              </a:defRPr>
            </a:pPr>
            <a:r>
              <a:rPr sz="1050" b="1">
                <a:solidFill>
                  <a:srgbClr val="A9C6DC"/>
                </a:solidFill>
              </a:rPr>
              <a:t>MUHAMMED EREN GÖKCEOĞLU</a:t>
            </a:r>
          </a:p>
        </p:txBody>
      </p:sp>
      <p:sp>
        <p:nvSpPr>
          <p:cNvPr id="12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512D1E0C-05CD-4780-8468-1BB853A8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0557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C6DC"/>
                </a:solidFill>
              </a:defRPr>
            </a:pPr>
            <a:r>
              <a:rPr sz="1050" b="1">
                <a:solidFill>
                  <a:srgbClr val="A9C6D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39701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2026-09-02T21:27:58.2040000Z</dcterms:created>
  <dcterms:modified xsi:type="dcterms:W3CDTF">2026-09-02T21:27:58.2040000Z</dcterms:modified>
</coreProperties>
</file>