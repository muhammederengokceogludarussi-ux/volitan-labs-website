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a6008b9a184469" /><Relationship Type="http://schemas.openxmlformats.org/officeDocument/2006/relationships/extended-properties" Target="/docProps/app.xml" Id="R18c2e314f0c34db0" /><Relationship Type="http://schemas.openxmlformats.org/officeDocument/2006/relationships/officeDocument" Target="/ppt/presentation.xml" Id="Rdb4efd1aca4b4b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73d9cf07a34dbb"/>
  </p:sldMasterIdLst>
  <p:notesMasterIdLst>
    <p:notesMasterId xmlns:r="http://schemas.openxmlformats.org/officeDocument/2006/relationships" r:id="R52493d7aa41f4d69"/>
  </p:notesMasterIdLst>
  <p:sldIdLst>
    <p:sldId xmlns:r="http://schemas.openxmlformats.org/officeDocument/2006/relationships" id="256" r:id="Rad574bd1c6304cc4"/>
    <p:sldId xmlns:r="http://schemas.openxmlformats.org/officeDocument/2006/relationships" id="257" r:id="R4faf395efc2b4cc6"/>
    <p:sldId xmlns:r="http://schemas.openxmlformats.org/officeDocument/2006/relationships" id="258" r:id="Ree95e3cb610a41b0"/>
    <p:sldId xmlns:r="http://schemas.openxmlformats.org/officeDocument/2006/relationships" id="259" r:id="Rf157e294e13a4fde"/>
    <p:sldId xmlns:r="http://schemas.openxmlformats.org/officeDocument/2006/relationships" id="260" r:id="R78c666581a974797"/>
    <p:sldId xmlns:r="http://schemas.openxmlformats.org/officeDocument/2006/relationships" id="261" r:id="R101700302faf4a48"/>
    <p:sldId xmlns:r="http://schemas.openxmlformats.org/officeDocument/2006/relationships" id="262" r:id="Rab4516b4cbd044e2"/>
    <p:sldId xmlns:r="http://schemas.openxmlformats.org/officeDocument/2006/relationships" id="263" r:id="R382446c8eb0145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06a2735cc0418c" /><Relationship Type="http://schemas.openxmlformats.org/officeDocument/2006/relationships/slideMaster" Target="/ppt/slideMasters/slideMaster1.xml" Id="Ref73d9cf07a34dbb" /><Relationship Type="http://schemas.openxmlformats.org/officeDocument/2006/relationships/notesMaster" Target="/ppt/notesMasters/notesMaster1.xml" Id="R52493d7aa41f4d69" /><Relationship Type="http://schemas.openxmlformats.org/officeDocument/2006/relationships/presProps" Target="/ppt/presProps.xml" Id="Rcaf8a0fad0014896" /><Relationship Type="http://schemas.openxmlformats.org/officeDocument/2006/relationships/tableStyles" Target="/ppt/tableStyles.xml" Id="R9eca9d003f0c4948" /><Relationship Type="http://schemas.openxmlformats.org/officeDocument/2006/relationships/slide" Target="/ppt/slides/slide1.xml" Id="Rad574bd1c6304cc4" /><Relationship Type="http://schemas.openxmlformats.org/officeDocument/2006/relationships/slide" Target="/ppt/slides/slide2.xml" Id="R4faf395efc2b4cc6" /><Relationship Type="http://schemas.openxmlformats.org/officeDocument/2006/relationships/slide" Target="/ppt/slides/slide3.xml" Id="Ree95e3cb610a41b0" /><Relationship Type="http://schemas.openxmlformats.org/officeDocument/2006/relationships/slide" Target="/ppt/slides/slide4.xml" Id="Rf157e294e13a4fde" /><Relationship Type="http://schemas.openxmlformats.org/officeDocument/2006/relationships/slide" Target="/ppt/slides/slide5.xml" Id="R78c666581a974797" /><Relationship Type="http://schemas.openxmlformats.org/officeDocument/2006/relationships/slide" Target="/ppt/slides/slide6.xml" Id="R101700302faf4a48" /><Relationship Type="http://schemas.openxmlformats.org/officeDocument/2006/relationships/slide" Target="/ppt/slides/slide7.xml" Id="Rab4516b4cbd044e2" /><Relationship Type="http://schemas.openxmlformats.org/officeDocument/2006/relationships/slide" Target="/ppt/slides/slide8.xml" Id="R382446c8eb0145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7d63abe9d347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005b25b38045b9" /><Relationship Type="http://schemas.openxmlformats.org/officeDocument/2006/relationships/notesMaster" Target="/ppt/notesMasters/notesMaster1.xml" Id="R2568d62493bc467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d29883698147f0" /><Relationship Type="http://schemas.openxmlformats.org/officeDocument/2006/relationships/notesMaster" Target="/ppt/notesMasters/notesMaster1.xml" Id="R997249abb05d43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bde32215564f8d" /><Relationship Type="http://schemas.openxmlformats.org/officeDocument/2006/relationships/notesMaster" Target="/ppt/notesMasters/notesMaster1.xml" Id="R17d69620b8df4a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8a6cf42865438e" /><Relationship Type="http://schemas.openxmlformats.org/officeDocument/2006/relationships/notesMaster" Target="/ppt/notesMasters/notesMaster1.xml" Id="R5e1ce08bfe5940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66b940e64f4eea" /><Relationship Type="http://schemas.openxmlformats.org/officeDocument/2006/relationships/notesMaster" Target="/ppt/notesMasters/notesMaster1.xml" Id="Rc68b9fd4684a43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584e5ad00c4d56" /><Relationship Type="http://schemas.openxmlformats.org/officeDocument/2006/relationships/notesMaster" Target="/ppt/notesMasters/notesMaster1.xml" Id="R808239b833b845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ef4546729740dc" /><Relationship Type="http://schemas.openxmlformats.org/officeDocument/2006/relationships/notesMaster" Target="/ppt/notesMasters/notesMaster1.xml" Id="Rb70f71611f7f4c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e5fc6c94f047ee" /><Relationship Type="http://schemas.openxmlformats.org/officeDocument/2006/relationships/notesMaster" Target="/ppt/notesMasters/notesMaster1.xml" Id="Rd0472b4e4fa346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SKY Olimpiyatları, dönem ve proje bağlamı: kullanıcı tarafından sağlanan bilgiler.</a:t>
            </a:r>
          </a:p>
          <a:p xmlns:a="http://schemas.openxmlformats.org/drawingml/2006/main">
            <a:r>
              <a:t>Oyun ekranı: D:/tusasgame/design-qa-artifacts/final-menu.png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OECD yetkinlik görevi: D:/tusasgame/.codex-remote-attachments/01a063e3-e8fc-7582-98a8-5398743959a2/ca5e8630-ec9d-4974-a47c-6d3ca6b16fcb/1-Photo-1.jpg</a:t>
            </a:r>
          </a:p>
          <a:p xmlns:a="http://schemas.openxmlformats.org/drawingml/2006/main">
            <a:r>
              <a:t>GÖKBEY resmî ürün bilgisi: https://www.tusas.com/urunler/helikopter/ozgun-gelistirme/gokbey</a:t>
            </a:r>
          </a:p>
          <a:p xmlns:a="http://schemas.openxmlformats.org/drawingml/2006/main">
            <a:r>
              <a:t>Kişisel motivasyon ve hedef kitle: kullanıcı tarafından sağlanan bilgiler.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GÖKBEY stajı, prototip projesi deneyimi ve izin sınırı: kullanıcı tarafından sağlanan bilgiler.</a:t>
            </a:r>
          </a:p>
          <a:p xmlns:a="http://schemas.openxmlformats.org/drawingml/2006/main">
            <a:r>
              <a:t>Oyun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İlk sürüm: Git commit ab06a93 / public/games/blue-rescue.</a:t>
            </a:r>
          </a:p>
          <a:p xmlns:a="http://schemas.openxmlformats.org/drawingml/2006/main">
            <a:r>
              <a:t>İlk sürüm oynanışı: D:/tusasgame/.presentation-revision-20260903/first-version-gameplay-compact.png</a:t>
            </a:r>
          </a:p>
          <a:p xmlns:a="http://schemas.openxmlformats.org/drawingml/2006/main">
            <a:r>
              <a:t>Güncel oynanış: D:/tusasgame/.presentation-revision-20260903/current-gameplay-compact.png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Menü, oynanış ve görev raporu: D:/tusasgame/design-qa-artifacts/final-menu.png; final-gameplay.png; final-report.png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Oyun davranışları: D:/tusasgame/game.js ve D:/tusasgame/game-core.js</a:t>
            </a:r>
          </a:p>
          <a:p xmlns:a="http://schemas.openxmlformats.org/drawingml/2006/main">
            <a:r>
              <a:t>Güncel oynanış ekranı: D:/tusasgame/design-qa-artifacts/final-gameplay.png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Gelecek çalışma başlıkları ve izin sınırı: kullanıcı ile mentöründen gelen geri bildirim.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Canlı demo ve kişisel site: https://www.volitanlabs.dev/tr/blue-rescue</a:t>
            </a:r>
          </a:p>
          <a:p xmlns:a="http://schemas.openxmlformats.org/drawingml/2006/main">
            <a:r>
              <a:t>QR kodu: D:/tusasgame/.presentation-revision-20260903/qr-fixed/qr-volitanlabs-hires.png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64e07afe44d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3d83449fd04ab3" /><Relationship Type="http://schemas.openxmlformats.org/officeDocument/2006/relationships/slideLayout" Target="/ppt/slideLayouts/slideLayout1.xml" Id="Rf822ede3c21747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22ede3c21747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d0a234e3f4415" /><Relationship Type="http://schemas.openxmlformats.org/officeDocument/2006/relationships/image" Target="/ppt/media/image.jpeg" Id="Rc6822c334a714a6e" /><Relationship Type="http://schemas.openxmlformats.org/officeDocument/2006/relationships/notesSlide" Target="/ppt/notesSlides/notesSlide1.xml" Id="R53c58847ed51449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a0031bdd54f2f" /><Relationship Type="http://schemas.openxmlformats.org/officeDocument/2006/relationships/notesSlide" Target="/ppt/notesSlides/notesSlide2.xml" Id="R4a032dab5e484c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1803a3b454941" /><Relationship Type="http://schemas.openxmlformats.org/officeDocument/2006/relationships/image" Target="/ppt/media/image2.jpeg" Id="R71ce3457dc9a4ad1" /><Relationship Type="http://schemas.openxmlformats.org/officeDocument/2006/relationships/notesSlide" Target="/ppt/notesSlides/notesSlide3.xml" Id="R36cacd60aaed4b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bb9d4b2004156" /><Relationship Type="http://schemas.openxmlformats.org/officeDocument/2006/relationships/image" Target="/ppt/media/image.png" Id="Rfbe1730085ea470c" /><Relationship Type="http://schemas.openxmlformats.org/officeDocument/2006/relationships/image" Target="/ppt/media/image2.png" Id="Rb47874fc40894df4" /><Relationship Type="http://schemas.openxmlformats.org/officeDocument/2006/relationships/notesSlide" Target="/ppt/notesSlides/notesSlide4.xml" Id="Re0213bf6e9244d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983a452a0490b" /><Relationship Type="http://schemas.openxmlformats.org/officeDocument/2006/relationships/image" Target="/ppt/media/image3.jpeg" Id="Rcab43bd560494d3a" /><Relationship Type="http://schemas.openxmlformats.org/officeDocument/2006/relationships/image" Target="/ppt/media/image4.jpeg" Id="R60296adf627348aa" /><Relationship Type="http://schemas.openxmlformats.org/officeDocument/2006/relationships/image" Target="/ppt/media/image5.jpeg" Id="Rc8ea3a83fe17495a" /><Relationship Type="http://schemas.openxmlformats.org/officeDocument/2006/relationships/notesSlide" Target="/ppt/notesSlides/notesSlide5.xml" Id="R04d9db5581c847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65de155fbe4806" /><Relationship Type="http://schemas.openxmlformats.org/officeDocument/2006/relationships/image" Target="/ppt/media/image6.jpeg" Id="R22626143b4ac4c55" /><Relationship Type="http://schemas.openxmlformats.org/officeDocument/2006/relationships/notesSlide" Target="/ppt/notesSlides/notesSlide6.xml" Id="R3814874f66bd4c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f246c7046b4c4e" /><Relationship Type="http://schemas.openxmlformats.org/officeDocument/2006/relationships/notesSlide" Target="/ppt/notesSlides/notesSlide7.xml" Id="Rb92d8c19b57744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e97a7f3d5498d" /><Relationship Type="http://schemas.openxmlformats.org/officeDocument/2006/relationships/image" Target="/ppt/media/image3.png" Id="Re55c3decc8fc4681" /><Relationship Type="http://schemas.openxmlformats.org/officeDocument/2006/relationships/notesSlide" Target="/ppt/notesSlides/notesSlide8.xml" Id="R8c719fcda472413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95352B26-B507-4D92-9171-90B418C7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context">
            <a:extLst xmlns:a="http://schemas.openxmlformats.org/drawingml/2006/main">
              <a:ext uri="{FF2B5EF4-FFF2-40B4-BE49-F238E27FC236}">
                <a16:creationId xmlns:a16="http://schemas.microsoft.com/office/drawing/2014/main" id="{1E3F0608-C2BA-4660-8C39-6C2CBA53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6C2FF"/>
                </a:solidFill>
              </a:defRPr>
            </a:pPr>
            <a:r>
              <a:rPr sz="1500" b="1">
                <a:solidFill>
                  <a:srgbClr val="36C2FF"/>
                </a:solidFill>
              </a:rPr>
              <a:t>SKY OLİMPİYATLARI  /  2026 III. DÖNEM</a:t>
            </a:r>
          </a:p>
        </p:txBody>
      </p:sp>
      <p:sp>
        <p:nvSpPr>
          <p:cNvPr id="3" name="title-blue">
            <a:extLst xmlns:a="http://schemas.openxmlformats.org/drawingml/2006/main">
              <a:ext uri="{FF2B5EF4-FFF2-40B4-BE49-F238E27FC236}">
                <a16:creationId xmlns:a16="http://schemas.microsoft.com/office/drawing/2014/main" id="{7C833555-DA8D-4A50-A4CA-D21013B8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900" b="1">
                <a:solidFill>
                  <a:srgbClr val="36C2FF"/>
                </a:solidFill>
              </a:defRPr>
            </a:pPr>
            <a:r>
              <a:rPr sz="6900" b="1">
                <a:solidFill>
                  <a:srgbClr val="36C2FF"/>
                </a:solidFill>
              </a:rPr>
              <a:t>BLUE</a:t>
            </a:r>
          </a:p>
        </p:txBody>
      </p:sp>
      <p:sp>
        <p:nvSpPr>
          <p:cNvPr id="4" name="title-rescue">
            <a:extLst xmlns:a="http://schemas.openxmlformats.org/drawingml/2006/main">
              <a:ext uri="{FF2B5EF4-FFF2-40B4-BE49-F238E27FC236}">
                <a16:creationId xmlns:a16="http://schemas.microsoft.com/office/drawing/2014/main" id="{E4F57B13-6B59-4853-A003-931A6B1B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850" b="1">
                <a:solidFill>
                  <a:srgbClr val="F5FAFF"/>
                </a:solidFill>
              </a:defRPr>
            </a:pPr>
            <a:r>
              <a:rPr sz="8850" b="1">
                <a:solidFill>
                  <a:srgbClr val="F5FAFF"/>
                </a:solidFill>
              </a:rPr>
              <a:t>RESCUE</a:t>
            </a:r>
          </a:p>
        </p:txBody>
      </p:sp>
      <p:sp>
        <p:nvSpPr>
          <p:cNvPr id="5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5563CDD0-FA60-4E48-A980-C1EEFC96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SKY Olimpiyatları için geliştirilmiş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F5FAFF"/>
                </a:solidFill>
              </a:defRPr>
            </a:pPr>
            <a:r>
              <a:rPr sz="2325" b="0">
                <a:solidFill>
                  <a:srgbClr val="F5FAFF"/>
                </a:solidFill>
              </a:rPr>
              <a:t>oynanabilir bir kurtarma projesi.</a:t>
            </a:r>
          </a:p>
        </p:txBody>
      </p:sp>
      <p:sp>
        <p:nvSpPr>
          <p:cNvPr id="6" name="title-byline">
            <a:extLst xmlns:a="http://schemas.openxmlformats.org/drawingml/2006/main">
              <a:ext uri="{FF2B5EF4-FFF2-40B4-BE49-F238E27FC236}">
                <a16:creationId xmlns:a16="http://schemas.microsoft.com/office/drawing/2014/main" id="{CFF0C755-800E-477E-A26D-80AAC6BD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40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9C6DC"/>
                </a:solidFill>
              </a:defRPr>
            </a:pPr>
            <a:r>
              <a:rPr sz="1650" b="1">
                <a:solidFill>
                  <a:srgbClr val="A9C6DC"/>
                </a:solidFill>
              </a:rPr>
              <a:t>GÖKBEY Isıl ve Akışkanlar Analizi stajı</a:t>
            </a:r>
          </a:p>
        </p:txBody>
      </p:sp>
      <p:sp>
        <p:nvSpPr>
          <p:cNvPr id="7" name="title-name">
            <a:extLst xmlns:a="http://schemas.openxmlformats.org/drawingml/2006/main">
              <a:ext uri="{FF2B5EF4-FFF2-40B4-BE49-F238E27FC236}">
                <a16:creationId xmlns:a16="http://schemas.microsoft.com/office/drawing/2014/main" id="{0C31051C-2C68-4146-9260-12CDBFFF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531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5FAFF"/>
                </a:solidFill>
              </a:defRPr>
            </a:pPr>
            <a:r>
              <a:rPr sz="1575" b="0">
                <a:solidFill>
                  <a:srgbClr val="F5FAFF"/>
                </a:solidFill>
              </a:rPr>
              <a:t>Muhammed Eren Gökceoğlu</a:t>
            </a:r>
          </a:p>
        </p:txBody>
      </p:sp>
      <p:sp>
        <p:nvSpPr>
          <p:cNvPr id="8" name="Blue Rescue güncel ana menüsü-frame">
            <a:extLst xmlns:a="http://schemas.openxmlformats.org/drawingml/2006/main">
              <a:ext uri="{FF2B5EF4-FFF2-40B4-BE49-F238E27FC236}">
                <a16:creationId xmlns:a16="http://schemas.microsoft.com/office/drawing/2014/main" id="{AD0AF0D2-136B-44EE-8EFA-592AC1B6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7650"/>
            <a:ext cx="2981325" cy="6362700"/>
          </a:xfrm>
          <a:prstGeom xmlns:a="http://schemas.openxmlformats.org/drawingml/2006/main" prst="roundRect">
            <a:avLst>
              <a:gd name="adj" fmla="val 7668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822c334a714a6e"/>
          <a:srcRect xmlns:a="http://schemas.openxmlformats.org/drawingml/2006/main" l="0" t="4" r="0" b="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77250" y="285750"/>
            <a:ext cx="2905125" cy="6286500"/>
          </a:xfrm>
          <a:prstGeom xmlns:a="http://schemas.openxmlformats.org/drawingml/2006/main" prst="roundRect">
            <a:avLst>
              <a:gd name="adj" fmla="val 7869"/>
            </a:avLst>
          </a:prstGeom>
        </p:spPr>
      </p:pic>
    </p:spTree>
    <p:extLst>
      <p:ext uri="{BB962C8B-B14F-4D97-AF65-F5344CB8AC3E}">
        <p14:creationId xmlns:p14="http://schemas.microsoft.com/office/powerpoint/2010/main" val="1931402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EC297B24-62BD-4950-9E5D-8FC2E4A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1. GÖREV  /  OECD YETKİNLİK KANITI</a:t>
            </a:r>
          </a:p>
        </p:txBody>
      </p:sp>
      <p:sp>
        <p:nvSpPr>
          <p:cNvPr id="2" name="choice-title">
            <a:extLst xmlns:a="http://schemas.openxmlformats.org/drawingml/2006/main">
              <a:ext uri="{FF2B5EF4-FFF2-40B4-BE49-F238E27FC236}">
                <a16:creationId xmlns:a16="http://schemas.microsoft.com/office/drawing/2014/main" id="{137FC675-76FC-4F2A-9999-6802A6A4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5FAFF"/>
                </a:solidFill>
              </a:defRPr>
            </a:pPr>
            <a:r>
              <a:rPr sz="4050" b="1">
                <a:solidFill>
                  <a:srgbClr val="F5FAFF"/>
                </a:solidFill>
              </a:rPr>
              <a:t>Seçtiğim yetkinlik:</a:t>
            </a:r>
          </a:p>
        </p:txBody>
      </p:sp>
      <p:sp>
        <p:nvSpPr>
          <p:cNvPr id="3" name="choice-expected">
            <a:extLst xmlns:a="http://schemas.openxmlformats.org/drawingml/2006/main">
              <a:ext uri="{FF2B5EF4-FFF2-40B4-BE49-F238E27FC236}">
                <a16:creationId xmlns:a16="http://schemas.microsoft.com/office/drawing/2014/main" id="{8CE5F8E7-0A80-4187-8106-1A4DD7E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57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Yaratıcılık ve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İnovasyon</a:t>
            </a:r>
          </a:p>
        </p:txBody>
      </p:sp>
      <p:sp>
        <p:nvSpPr>
          <p:cNvPr id="4" name="choice-divider">
            <a:extLst xmlns:a="http://schemas.openxmlformats.org/drawingml/2006/main">
              <a:ext uri="{FF2B5EF4-FFF2-40B4-BE49-F238E27FC236}">
                <a16:creationId xmlns:a16="http://schemas.microsoft.com/office/drawing/2014/main" id="{5219590F-6AD4-4F7B-8CC4-C79B30D6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oice-turn">
            <a:extLst xmlns:a="http://schemas.openxmlformats.org/drawingml/2006/main">
              <a:ext uri="{FF2B5EF4-FFF2-40B4-BE49-F238E27FC236}">
                <a16:creationId xmlns:a16="http://schemas.microsoft.com/office/drawing/2014/main" id="{1F4DDB37-79E1-4B49-982A-0CA56993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Fikri çalışan, oynanabilir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bir projeye dönüştürüyorum.</a:t>
            </a:r>
          </a:p>
        </p:txBody>
      </p:sp>
      <p:sp>
        <p:nvSpPr>
          <p:cNvPr id="6" name="choice-right-bg">
            <a:extLst xmlns:a="http://schemas.openxmlformats.org/drawingml/2006/main">
              <a:ext uri="{FF2B5EF4-FFF2-40B4-BE49-F238E27FC236}">
                <a16:creationId xmlns:a16="http://schemas.microsoft.com/office/drawing/2014/main" id="{7A4FFD0D-AFB0-4C81-8B60-B503CC65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oice-right-kicker">
            <a:extLst xmlns:a="http://schemas.openxmlformats.org/drawingml/2006/main">
              <a:ext uri="{FF2B5EF4-FFF2-40B4-BE49-F238E27FC236}">
                <a16:creationId xmlns:a16="http://schemas.microsoft.com/office/drawing/2014/main" id="{DEAF550D-F181-4E52-A732-4E426F2B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104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NEDEN OYUN?</a:t>
            </a:r>
          </a:p>
        </p:txBody>
      </p:sp>
      <p:sp>
        <p:nvSpPr>
          <p:cNvPr id="8" name="choice-right-title">
            <a:extLst xmlns:a="http://schemas.openxmlformats.org/drawingml/2006/main">
              <a:ext uri="{FF2B5EF4-FFF2-40B4-BE49-F238E27FC236}">
                <a16:creationId xmlns:a16="http://schemas.microsoft.com/office/drawing/2014/main" id="{0EA6A3C8-FF63-436D-9550-D76F5C35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764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Kişisel bağdan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paylaşılabilir deneyime</a:t>
            </a:r>
          </a:p>
        </p:txBody>
      </p:sp>
      <p:sp>
        <p:nvSpPr>
          <p:cNvPr id="9" name="choice-right-body">
            <a:extLst xmlns:a="http://schemas.openxmlformats.org/drawingml/2006/main">
              <a:ext uri="{FF2B5EF4-FFF2-40B4-BE49-F238E27FC236}">
                <a16:creationId xmlns:a16="http://schemas.microsoft.com/office/drawing/2014/main" id="{9525DD3A-C08C-4180-83C3-64803BBB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GÖKBEY tarafındaki geçmişim temaya kişisel bir bağ kuruyor. Yerli imkânlarla geliştirilen ilk genel maksat helikopterini, gençlere etkileşimli bir formatla anlatıyorum.</a:t>
            </a:r>
          </a:p>
        </p:txBody>
      </p:sp>
      <p:sp>
        <p:nvSpPr>
          <p:cNvPr id="10" name="choice-right-close">
            <a:extLst xmlns:a="http://schemas.openxmlformats.org/drawingml/2006/main">
              <a:ext uri="{FF2B5EF4-FFF2-40B4-BE49-F238E27FC236}">
                <a16:creationId xmlns:a16="http://schemas.microsoft.com/office/drawing/2014/main" id="{95785DCC-4E9D-4746-8819-AB1FC32C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911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6C2FF"/>
                </a:solidFill>
              </a:defRPr>
            </a:pPr>
            <a:r>
              <a:rPr sz="1800" b="1">
                <a:solidFill>
                  <a:srgbClr val="36C2FF"/>
                </a:solidFill>
              </a:rPr>
              <a:t>Amaç: merak uyandırmak · tanınırlığa katkı sağlamak</a:t>
            </a:r>
          </a:p>
        </p:txBody>
      </p:sp>
      <p:sp>
        <p:nvSpPr>
          <p:cNvPr id="11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113E29DE-0E29-47FC-BEB6-25B06A08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CE7D754E-9C69-4063-85F8-674FA0EA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3B4A919-7787-4C96-A8B4-4B981198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91247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E1A4C3B2-1A05-4B7D-8A76-C6E3296C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FİKRİN ÇIKIŞ NOKTASI</a:t>
            </a:r>
          </a:p>
        </p:txBody>
      </p:sp>
      <p:sp>
        <p:nvSpPr>
          <p:cNvPr id="2" name="why-title">
            <a:extLst xmlns:a="http://schemas.openxmlformats.org/drawingml/2006/main">
              <a:ext uri="{FF2B5EF4-FFF2-40B4-BE49-F238E27FC236}">
                <a16:creationId xmlns:a16="http://schemas.microsoft.com/office/drawing/2014/main" id="{95654DD0-F42C-4630-8635-C36B7C52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90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Neden helikopter?</a:t>
            </a:r>
          </a:p>
        </p:txBody>
      </p:sp>
      <p:sp>
        <p:nvSpPr>
          <p:cNvPr id="3" name="why-answer">
            <a:extLst xmlns:a="http://schemas.openxmlformats.org/drawingml/2006/main">
              <a:ext uri="{FF2B5EF4-FFF2-40B4-BE49-F238E27FC236}">
                <a16:creationId xmlns:a16="http://schemas.microsoft.com/office/drawing/2014/main" id="{80592A6E-C01A-49EC-89E3-E9AAADC4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Teması GÖKBEY'den,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36C2FF"/>
                </a:solidFill>
              </a:defRPr>
            </a:pPr>
            <a:r>
              <a:rPr sz="4950" b="1">
                <a:solidFill>
                  <a:srgbClr val="36C2FF"/>
                </a:solidFill>
              </a:rPr>
              <a:t>helikopteri özgün.</a:t>
            </a:r>
          </a:p>
        </p:txBody>
      </p:sp>
      <p:sp>
        <p:nvSpPr>
          <p:cNvPr id="4" name="why-body">
            <a:extLst xmlns:a="http://schemas.openxmlformats.org/drawingml/2006/main">
              <a:ext uri="{FF2B5EF4-FFF2-40B4-BE49-F238E27FC236}">
                <a16:creationId xmlns:a16="http://schemas.microsoft.com/office/drawing/2014/main" id="{58CC2190-EF9C-4C09-87EF-02E6FB099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5905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Şu anda GÖKBEY Isıl ve Akışkanlar Analizi stajındayım.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F5FAFF"/>
                </a:solidFill>
              </a:defRPr>
            </a:pPr>
            <a:r>
              <a:rPr sz="2025" b="0">
                <a:solidFill>
                  <a:srgbClr val="F5FAFF"/>
                </a:solidFill>
              </a:rPr>
              <a:t>Teknisyenlik dönemimde de GÖKBEY Prototip Projesi'nde çalıştım.</a:t>
            </a:r>
          </a:p>
        </p:txBody>
      </p:sp>
      <p:sp>
        <p:nvSpPr>
          <p:cNvPr id="5" name="why-note">
            <a:extLst xmlns:a="http://schemas.openxmlformats.org/drawingml/2006/main">
              <a:ext uri="{FF2B5EF4-FFF2-40B4-BE49-F238E27FC236}">
                <a16:creationId xmlns:a16="http://schemas.microsoft.com/office/drawing/2014/main" id="{E61D2CD5-880A-48FF-977C-0B743169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628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A3D"/>
                </a:solidFill>
              </a:defRPr>
            </a:pPr>
            <a:r>
              <a:rPr sz="1650" b="1">
                <a:solidFill>
                  <a:srgbClr val="FF6A3D"/>
                </a:solidFill>
              </a:rPr>
              <a:t>GÖKBEY'i doğrudan oyuna taşımak için kurumsal izin gerekir. Oyundaki araç GÖKBEY değildir; genel ve özgün bir mavi helikopterdir.</a:t>
            </a:r>
          </a:p>
        </p:txBody>
      </p:sp>
      <p:sp>
        <p:nvSpPr>
          <p:cNvPr id="6" name="Blue Rescue uçuş ekranı-frame">
            <a:extLst xmlns:a="http://schemas.openxmlformats.org/drawingml/2006/main">
              <a:ext uri="{FF2B5EF4-FFF2-40B4-BE49-F238E27FC236}">
                <a16:creationId xmlns:a16="http://schemas.microsoft.com/office/drawing/2014/main" id="{20A9A371-3ABF-4ECA-8891-11A62EEF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1000"/>
            <a:ext cx="2857500" cy="58864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e3457dc9a4ad1"/>
          <a:srcRect xmlns:a="http://schemas.openxmlformats.org/drawingml/2006/main" l="0" t="1734" r="0" b="17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34350" y="419100"/>
            <a:ext cx="2781300" cy="581025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3">
            <a:extLst xmlns:a="http://schemas.openxmlformats.org/drawingml/2006/main">
              <a:ext uri="{FF2B5EF4-FFF2-40B4-BE49-F238E27FC236}">
                <a16:creationId xmlns:a16="http://schemas.microsoft.com/office/drawing/2014/main" id="{97E0B5A4-0F63-4FEE-AC72-166661F19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6AD6B8C0-9604-4818-AB87-FD440197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8D6D2CA1-DF11-4A47-AE14-86A39C2C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187470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FD5A4396-F896-4063-B8CD-97D31892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İTERASYON</a:t>
            </a:r>
          </a:p>
        </p:txBody>
      </p:sp>
      <p:sp>
        <p:nvSpPr>
          <p:cNvPr id="2" name="iteration-title">
            <a:extLst xmlns:a="http://schemas.openxmlformats.org/drawingml/2006/main">
              <a:ext uri="{FF2B5EF4-FFF2-40B4-BE49-F238E27FC236}">
                <a16:creationId xmlns:a16="http://schemas.microsoft.com/office/drawing/2014/main" id="{82CECEAB-EDD5-4CB3-80B9-796A31F5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İlk prototipten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5FAFF"/>
                </a:solidFill>
              </a:defRPr>
            </a:pPr>
            <a:r>
              <a:rPr sz="3750" b="1">
                <a:solidFill>
                  <a:srgbClr val="F5FAFF"/>
                </a:solidFill>
              </a:rPr>
              <a:t>güncel oyun deneyimine.</a:t>
            </a:r>
          </a:p>
        </p:txBody>
      </p:sp>
      <p:sp>
        <p:nvSpPr>
          <p:cNvPr id="3" name="iteration-body">
            <a:extLst xmlns:a="http://schemas.openxmlformats.org/drawingml/2006/main">
              <a:ext uri="{FF2B5EF4-FFF2-40B4-BE49-F238E27FC236}">
                <a16:creationId xmlns:a16="http://schemas.microsoft.com/office/drawing/2014/main" id="{C21A5CA5-EB90-4B48-942B-BD085C4A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A9C6DC"/>
                </a:solidFill>
              </a:defRPr>
            </a:pPr>
            <a:r>
              <a:rPr sz="1875" b="0">
                <a:solidFill>
                  <a:srgbClr val="A9C6DC"/>
                </a:solidFill>
              </a:rPr>
              <a:t>Güncel sürümde hiyerarşi, tipografi, hareket ve geri bildirim birlikte çalışıyor.</a:t>
            </a:r>
          </a:p>
        </p:txBody>
      </p:sp>
      <p:sp>
        <p:nvSpPr>
          <p:cNvPr id="4" name="Blue Rescue ilk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781F97F-C9EF-4E43-B543-B54ABE70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981325"/>
            <a:ext cx="2152650" cy="2952750"/>
          </a:xfrm>
          <a:prstGeom xmlns:a="http://schemas.openxmlformats.org/drawingml/2006/main" prst="roundRect">
            <a:avLst>
              <a:gd name="adj" fmla="val 7965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1730085ea470c"/>
          <a:stretch xmlns:a="http://schemas.openxmlformats.org/drawingml/2006/main"/>
        </p:blipFill>
        <p:spPr>
          <a:xfrm xmlns:a="http://schemas.openxmlformats.org/drawingml/2006/main">
            <a:off x="1480124" y="3009900"/>
            <a:ext cx="1345053" cy="2895600"/>
          </a:xfrm>
          <a:prstGeom xmlns:a="http://schemas.openxmlformats.org/drawingml/2006/main" prst="roundRect">
            <a:avLst>
              <a:gd name="adj" fmla="val 8182"/>
            </a:avLst>
          </a:prstGeom>
        </p:spPr>
      </p:pic>
      <p:sp>
        <p:nvSpPr>
          <p:cNvPr id="6" name="iteration-before">
            <a:extLst xmlns:a="http://schemas.openxmlformats.org/drawingml/2006/main">
              <a:ext uri="{FF2B5EF4-FFF2-40B4-BE49-F238E27FC236}">
                <a16:creationId xmlns:a16="http://schemas.microsoft.com/office/drawing/2014/main" id="{E0D1942D-BF27-48CF-9018-D434CD73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0007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A9C6DC"/>
                </a:solidFill>
              </a:defRPr>
            </a:pPr>
            <a:r>
              <a:rPr sz="1425" b="1">
                <a:solidFill>
                  <a:srgbClr val="A9C6DC"/>
                </a:solidFill>
              </a:rPr>
              <a:t>ÖNCE</a:t>
            </a:r>
          </a:p>
        </p:txBody>
      </p:sp>
      <p:sp>
        <p:nvSpPr>
          <p:cNvPr id="7" name="iteration-arrow">
            <a:extLst xmlns:a="http://schemas.openxmlformats.org/drawingml/2006/main">
              <a:ext uri="{FF2B5EF4-FFF2-40B4-BE49-F238E27FC236}">
                <a16:creationId xmlns:a16="http://schemas.microsoft.com/office/drawing/2014/main" id="{5E2CFC42-2FF1-4005-BBE7-8F16EC93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F6A3D"/>
                </a:solidFill>
              </a:defRPr>
            </a:pPr>
            <a:r>
              <a:rPr sz="4800" b="1">
                <a:solidFill>
                  <a:srgbClr val="FF6A3D"/>
                </a:solidFill>
              </a:rPr>
              <a:t>→</a:t>
            </a:r>
          </a:p>
        </p:txBody>
      </p:sp>
      <p:sp>
        <p:nvSpPr>
          <p:cNvPr id="8" name="Blue Rescue yenilenmiş menü tasarımı-frame">
            <a:extLst xmlns:a="http://schemas.openxmlformats.org/drawingml/2006/main">
              <a:ext uri="{FF2B5EF4-FFF2-40B4-BE49-F238E27FC236}">
                <a16:creationId xmlns:a16="http://schemas.microsoft.com/office/drawing/2014/main" id="{DA8C0C49-AD77-4FFD-BA3F-33306FE5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781300"/>
            <a:ext cx="2457450" cy="33528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7874fc40894df4"/>
          <a:stretch xmlns:a="http://schemas.openxmlformats.org/drawingml/2006/main"/>
        </p:blipFill>
        <p:spPr>
          <a:xfrm xmlns:a="http://schemas.openxmlformats.org/drawingml/2006/main">
            <a:off x="5455981" y="2819400"/>
            <a:ext cx="2061087" cy="3276600"/>
          </a:xfrm>
          <a:prstGeom xmlns:a="http://schemas.openxmlformats.org/drawingml/2006/main" prst="roundRect">
            <a:avLst>
              <a:gd name="adj" fmla="val 7200"/>
            </a:avLst>
          </a:prstGeom>
        </p:spPr>
      </p:pic>
      <p:sp>
        <p:nvSpPr>
          <p:cNvPr id="10" name="iteration-after">
            <a:extLst xmlns:a="http://schemas.openxmlformats.org/drawingml/2006/main">
              <a:ext uri="{FF2B5EF4-FFF2-40B4-BE49-F238E27FC236}">
                <a16:creationId xmlns:a16="http://schemas.microsoft.com/office/drawing/2014/main" id="{D04FB407-7722-4DF6-90F8-B59FB06D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15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36C2FF"/>
                </a:solidFill>
              </a:defRPr>
            </a:pPr>
            <a:r>
              <a:rPr sz="1425" b="1">
                <a:solidFill>
                  <a:srgbClr val="36C2FF"/>
                </a:solidFill>
              </a:rPr>
              <a:t>SONRA</a:t>
            </a:r>
          </a:p>
        </p:txBody>
      </p:sp>
      <p:sp>
        <p:nvSpPr>
          <p:cNvPr id="11" name="iteration-list">
            <a:extLst xmlns:a="http://schemas.openxmlformats.org/drawingml/2006/main">
              <a:ext uri="{FF2B5EF4-FFF2-40B4-BE49-F238E27FC236}">
                <a16:creationId xmlns:a16="http://schemas.microsoft.com/office/drawing/2014/main" id="{F354AF5D-5F8B-4317-9051-92FD0A58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38500"/>
            <a:ext cx="3048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Daha temiz HUD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Eğimli helikopter hareketi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Canlı rotor ve geri bildirim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5FAFF"/>
                </a:solidFill>
              </a:defRPr>
            </a:pPr>
            <a:r>
              <a:rPr sz="2025" b="1">
                <a:solidFill>
                  <a:srgbClr val="F5FAFF"/>
                </a:solidFill>
              </a:rPr>
              <a:t>Skor, seri ve kurtarma vurgusu</a:t>
            </a:r>
          </a:p>
        </p:txBody>
      </p:sp>
      <p:sp>
        <p:nvSpPr>
          <p:cNvPr id="12" name="footer-line-4">
            <a:extLst xmlns:a="http://schemas.openxmlformats.org/drawingml/2006/main">
              <a:ext uri="{FF2B5EF4-FFF2-40B4-BE49-F238E27FC236}">
                <a16:creationId xmlns:a16="http://schemas.microsoft.com/office/drawing/2014/main" id="{CF548F0B-7C5C-4956-9883-9219DCAF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A07B15FD-F3BD-42F4-99B4-F75F56AB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4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3582727D-9C98-407F-8B00-64F386BA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50540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D3505FAB-D1C3-44D4-A90F-6AC8CA51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OYUNCU DENEYİMİ</a:t>
            </a:r>
          </a:p>
        </p:txBody>
      </p:sp>
      <p:sp>
        <p:nvSpPr>
          <p:cNvPr id="2" name="loop-title">
            <a:extLst xmlns:a="http://schemas.openxmlformats.org/drawingml/2006/main">
              <a:ext uri="{FF2B5EF4-FFF2-40B4-BE49-F238E27FC236}">
                <a16:creationId xmlns:a16="http://schemas.microsoft.com/office/drawing/2014/main" id="{CB53C863-AAE1-4E33-988F-1259889F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Oyun döngüsü net ve hızlı.</a:t>
            </a:r>
          </a:p>
        </p:txBody>
      </p:sp>
      <p:sp>
        <p:nvSpPr>
          <p:cNvPr id="3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2ED99F68-A28A-4C06-B94E-8CD31D3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809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Başla, uç, kurtar, kaçın, skorunu gör ve yeniden dene.</a:t>
            </a:r>
          </a:p>
        </p:txBody>
      </p:sp>
      <p:sp>
        <p:nvSpPr>
          <p:cNvPr id="4" name="UÇUŞA BAŞLA-frame">
            <a:extLst xmlns:a="http://schemas.openxmlformats.org/drawingml/2006/main">
              <a:ext uri="{FF2B5EF4-FFF2-40B4-BE49-F238E27FC236}">
                <a16:creationId xmlns:a16="http://schemas.microsoft.com/office/drawing/2014/main" id="{B35D7570-8EA8-45DB-ACA9-F644CF7F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b43bd560494d3a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6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6" name="loop-no-01">
            <a:extLst xmlns:a="http://schemas.openxmlformats.org/drawingml/2006/main">
              <a:ext uri="{FF2B5EF4-FFF2-40B4-BE49-F238E27FC236}">
                <a16:creationId xmlns:a16="http://schemas.microsoft.com/office/drawing/2014/main" id="{AF7FBA1A-3798-4E64-91A5-EB6EFD6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01</a:t>
            </a:r>
          </a:p>
        </p:txBody>
      </p:sp>
      <p:sp>
        <p:nvSpPr>
          <p:cNvPr id="7" name="loop-label-01">
            <a:extLst xmlns:a="http://schemas.openxmlformats.org/drawingml/2006/main">
              <a:ext uri="{FF2B5EF4-FFF2-40B4-BE49-F238E27FC236}">
                <a16:creationId xmlns:a16="http://schemas.microsoft.com/office/drawing/2014/main" id="{68F28DCB-5B38-4545-A210-02A2D96EE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UÇUŞA BAŞLA</a:t>
            </a:r>
          </a:p>
        </p:txBody>
      </p:sp>
      <p:sp>
        <p:nvSpPr>
          <p:cNvPr id="8" name="ROTAYI YÖNET-frame">
            <a:extLst xmlns:a="http://schemas.openxmlformats.org/drawingml/2006/main">
              <a:ext uri="{FF2B5EF4-FFF2-40B4-BE49-F238E27FC236}">
                <a16:creationId xmlns:a16="http://schemas.microsoft.com/office/drawing/2014/main" id="{60025D89-61E6-4181-BBB0-2A8EC5A0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296adf627348aa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0" name="loop-no-02">
            <a:extLst xmlns:a="http://schemas.openxmlformats.org/drawingml/2006/main">
              <a:ext uri="{FF2B5EF4-FFF2-40B4-BE49-F238E27FC236}">
                <a16:creationId xmlns:a16="http://schemas.microsoft.com/office/drawing/2014/main" id="{4C2BD443-F16C-4152-B7E3-CEAD9EC3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02</a:t>
            </a:r>
          </a:p>
        </p:txBody>
      </p:sp>
      <p:sp>
        <p:nvSpPr>
          <p:cNvPr id="11" name="loop-label-02">
            <a:extLst xmlns:a="http://schemas.openxmlformats.org/drawingml/2006/main">
              <a:ext uri="{FF2B5EF4-FFF2-40B4-BE49-F238E27FC236}">
                <a16:creationId xmlns:a16="http://schemas.microsoft.com/office/drawing/2014/main" id="{AE8FF49F-A133-4C47-8A70-E1FAD559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ROTAYI YÖNET</a:t>
            </a:r>
          </a:p>
        </p:txBody>
      </p:sp>
      <p:sp>
        <p:nvSpPr>
          <p:cNvPr id="12" name="YENİDEN DENE-frame">
            <a:extLst xmlns:a="http://schemas.openxmlformats.org/drawingml/2006/main">
              <a:ext uri="{FF2B5EF4-FFF2-40B4-BE49-F238E27FC236}">
                <a16:creationId xmlns:a16="http://schemas.microsoft.com/office/drawing/2014/main" id="{C4DB2587-CC58-41CB-B519-D67D7F08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619375"/>
            <a:ext cx="2209800" cy="3009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a3a83fe17495a"/>
          <a:srcRect xmlns:a="http://schemas.openxmlformats.org/drawingml/2006/main" l="0" t="18308" r="0" b="183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53400" y="2647950"/>
            <a:ext cx="2152650" cy="2952750"/>
          </a:xfrm>
          <a:prstGeom xmlns:a="http://schemas.openxmlformats.org/drawingml/2006/main" prst="roundRect">
            <a:avLst>
              <a:gd name="adj" fmla="val 7080"/>
            </a:avLst>
          </a:prstGeom>
        </p:spPr>
      </p:pic>
      <p:sp>
        <p:nvSpPr>
          <p:cNvPr id="14" name="loop-no-03">
            <a:extLst xmlns:a="http://schemas.openxmlformats.org/drawingml/2006/main">
              <a:ext uri="{FF2B5EF4-FFF2-40B4-BE49-F238E27FC236}">
                <a16:creationId xmlns:a16="http://schemas.microsoft.com/office/drawing/2014/main" id="{2A79C2A4-A146-48B8-BF42-37E565DD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7721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03</a:t>
            </a:r>
          </a:p>
        </p:txBody>
      </p:sp>
      <p:sp>
        <p:nvSpPr>
          <p:cNvPr id="15" name="loop-label-03">
            <a:extLst xmlns:a="http://schemas.openxmlformats.org/drawingml/2006/main">
              <a:ext uri="{FF2B5EF4-FFF2-40B4-BE49-F238E27FC236}">
                <a16:creationId xmlns:a16="http://schemas.microsoft.com/office/drawing/2014/main" id="{46CECFDA-7300-4445-8BE9-C0E46EDE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7531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AFF"/>
                </a:solidFill>
              </a:defRPr>
            </a:pPr>
            <a:r>
              <a:rPr sz="1500" b="1">
                <a:solidFill>
                  <a:srgbClr val="F5FAFF"/>
                </a:solidFill>
              </a:rPr>
              <a:t>YENİDEN DENE</a:t>
            </a:r>
          </a:p>
        </p:txBody>
      </p:sp>
      <p:sp>
        <p:nvSpPr>
          <p:cNvPr id="16" name="footer-line-5">
            <a:extLst xmlns:a="http://schemas.openxmlformats.org/drawingml/2006/main">
              <a:ext uri="{FF2B5EF4-FFF2-40B4-BE49-F238E27FC236}">
                <a16:creationId xmlns:a16="http://schemas.microsoft.com/office/drawing/2014/main" id="{08AAA4B5-1722-4B7D-9FFF-C7150039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0E7ADE1B-5747-446F-BFA8-D5399ADD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8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11A25CE8-42E9-45F1-B069-E1020E29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95003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1325B7A1-0A9A-4A7F-9320-7AD06571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OYUN HİSSİ</a:t>
            </a:r>
          </a:p>
        </p:txBody>
      </p:sp>
      <p:sp>
        <p:nvSpPr>
          <p:cNvPr id="2" name="feel-title">
            <a:extLst xmlns:a="http://schemas.openxmlformats.org/drawingml/2006/main">
              <a:ext uri="{FF2B5EF4-FFF2-40B4-BE49-F238E27FC236}">
                <a16:creationId xmlns:a16="http://schemas.microsoft.com/office/drawing/2014/main" id="{731AC7AA-6A18-4994-A75C-609B5BC0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810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Her hareket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karşılığını veriyor.</a:t>
            </a:r>
          </a:p>
        </p:txBody>
      </p:sp>
      <p:sp>
        <p:nvSpPr>
          <p:cNvPr id="3" name="feel-lead">
            <a:extLst xmlns:a="http://schemas.openxmlformats.org/drawingml/2006/main">
              <a:ext uri="{FF2B5EF4-FFF2-40B4-BE49-F238E27FC236}">
                <a16:creationId xmlns:a16="http://schemas.microsoft.com/office/drawing/2014/main" id="{37EAB723-FDFF-42E6-8582-DCF9BABD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5429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A9C6DC"/>
                </a:solidFill>
              </a:defRPr>
            </a:pPr>
            <a:r>
              <a:rPr sz="1950" b="0">
                <a:solidFill>
                  <a:srgbClr val="A9C6DC"/>
                </a:solidFill>
              </a:rPr>
              <a:t>Yeni sistemlerden çok, her hareketin net bir karşılık vermesi önemli.</a:t>
            </a:r>
          </a:p>
        </p:txBody>
      </p:sp>
      <p:sp>
        <p:nvSpPr>
          <p:cNvPr id="4" name="feel-line">
            <a:extLst xmlns:a="http://schemas.openxmlformats.org/drawingml/2006/main">
              <a:ext uri="{FF2B5EF4-FFF2-40B4-BE49-F238E27FC236}">
                <a16:creationId xmlns:a16="http://schemas.microsoft.com/office/drawing/2014/main" id="{32C47657-837F-416B-88C0-6B68189D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447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eel-list">
            <a:extLst xmlns:a="http://schemas.openxmlformats.org/drawingml/2006/main">
              <a:ext uri="{FF2B5EF4-FFF2-40B4-BE49-F238E27FC236}">
                <a16:creationId xmlns:a16="http://schemas.microsoft.com/office/drawing/2014/main" id="{5E0322BA-9344-49CE-A3E7-7B2C5AF5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56197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Helikopter yükselirken ve düşerken eğiliyor.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Rotor daha canlı dönüyor.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Kurtarma alanı nefes alır gibi atıyor.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Skor ve seri vurgu alıyor.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5FAFF"/>
                </a:solidFill>
              </a:defRPr>
            </a:pPr>
            <a:r>
              <a:rPr sz="1725" b="0">
                <a:solidFill>
                  <a:srgbClr val="F5FAFF"/>
                </a:solidFill>
              </a:rPr>
              <a:t>Çarpışma kısa bir duraklama ve sarsıntıyla hissediliyor.</a:t>
            </a:r>
          </a:p>
        </p:txBody>
      </p:sp>
      <p:sp>
        <p:nvSpPr>
          <p:cNvPr id="6" name="Cilalanmış Blue Rescue oynanış ekranı-frame">
            <a:extLst xmlns:a="http://schemas.openxmlformats.org/drawingml/2006/main">
              <a:ext uri="{FF2B5EF4-FFF2-40B4-BE49-F238E27FC236}">
                <a16:creationId xmlns:a16="http://schemas.microsoft.com/office/drawing/2014/main" id="{02CBF6F4-EA9C-40FD-B434-DAD85B8D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"/>
            <a:ext cx="2857500" cy="5867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26143b4ac4c55"/>
          <a:srcRect xmlns:a="http://schemas.openxmlformats.org/drawingml/2006/main" l="0" t="1892" r="0" b="1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81950" y="438150"/>
            <a:ext cx="2781300" cy="5791200"/>
          </a:xfrm>
          <a:prstGeom xmlns:a="http://schemas.openxmlformats.org/drawingml/2006/main" prst="roundRect">
            <a:avLst>
              <a:gd name="adj" fmla="val 8219"/>
            </a:avLst>
          </a:prstGeom>
        </p:spPr>
      </p:pic>
      <p:sp>
        <p:nvSpPr>
          <p:cNvPr id="8" name="footer-line-6">
            <a:extLst xmlns:a="http://schemas.openxmlformats.org/drawingml/2006/main">
              <a:ext uri="{FF2B5EF4-FFF2-40B4-BE49-F238E27FC236}">
                <a16:creationId xmlns:a16="http://schemas.microsoft.com/office/drawing/2014/main" id="{FAF6913F-8D25-4AD7-BF9A-063EE5A6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0318E0ED-F0A0-4C6D-AD29-A0AF4594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0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186CBF7C-E8E0-4A05-97D2-B1C00837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540400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3172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">
            <a:extLst xmlns:a="http://schemas.openxmlformats.org/drawingml/2006/main">
              <a:ext uri="{FF2B5EF4-FFF2-40B4-BE49-F238E27FC236}">
                <a16:creationId xmlns:a16="http://schemas.microsoft.com/office/drawing/2014/main" id="{EC297B24-62BD-4950-9E5D-8FC2E4A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36C2FF"/>
                </a:solidFill>
              </a:defRPr>
            </a:pPr>
            <a:r>
              <a:rPr sz="1350" b="1">
                <a:solidFill>
                  <a:srgbClr val="36C2FF"/>
                </a:solidFill>
              </a:rPr>
              <a:t>GELECEK ÇALIŞMALAR</a:t>
            </a:r>
          </a:p>
        </p:txBody>
      </p:sp>
      <p:sp>
        <p:nvSpPr>
          <p:cNvPr id="2" name="choice-title">
            <a:extLst xmlns:a="http://schemas.openxmlformats.org/drawingml/2006/main">
              <a:ext uri="{FF2B5EF4-FFF2-40B4-BE49-F238E27FC236}">
                <a16:creationId xmlns:a16="http://schemas.microsoft.com/office/drawing/2014/main" id="{137FC675-76FC-4F2A-9999-6802A6A4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5143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5FAFF"/>
                </a:solidFill>
              </a:defRPr>
            </a:pPr>
            <a:r>
              <a:rPr sz="4050" b="1">
                <a:solidFill>
                  <a:srgbClr val="F5FAFF"/>
                </a:solidFill>
              </a:rPr>
              <a:t>Görev çeşitliliği</a:t>
            </a:r>
          </a:p>
        </p:txBody>
      </p:sp>
      <p:sp>
        <p:nvSpPr>
          <p:cNvPr id="3" name="choice-expected">
            <a:extLst xmlns:a="http://schemas.openxmlformats.org/drawingml/2006/main">
              <a:ext uri="{FF2B5EF4-FFF2-40B4-BE49-F238E27FC236}">
                <a16:creationId xmlns:a16="http://schemas.microsoft.com/office/drawing/2014/main" id="{8CE5F8E7-0A80-4187-8106-1A4DD7E9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857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Yangın söndürme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A9C6DC"/>
                </a:solidFill>
              </a:defRPr>
            </a:pPr>
            <a:r>
              <a:rPr sz="2850" b="1">
                <a:solidFill>
                  <a:srgbClr val="A9C6DC"/>
                </a:solidFill>
              </a:rPr>
              <a:t>ve tahliye</a:t>
            </a:r>
          </a:p>
        </p:txBody>
      </p:sp>
      <p:sp>
        <p:nvSpPr>
          <p:cNvPr id="4" name="choice-divider">
            <a:extLst xmlns:a="http://schemas.openxmlformats.org/drawingml/2006/main">
              <a:ext uri="{FF2B5EF4-FFF2-40B4-BE49-F238E27FC236}">
                <a16:creationId xmlns:a16="http://schemas.microsoft.com/office/drawing/2014/main" id="{5219590F-6AD4-4F7B-8CC4-C79B30D6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438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hoice-turn">
            <a:extLst xmlns:a="http://schemas.openxmlformats.org/drawingml/2006/main">
              <a:ext uri="{FF2B5EF4-FFF2-40B4-BE49-F238E27FC236}">
                <a16:creationId xmlns:a16="http://schemas.microsoft.com/office/drawing/2014/main" id="{1F4DDB37-79E1-4B49-982A-0CA56993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Aynı uçuş mekaniği, farklı kurtarma hedefleriyle genişletilebilir.</a:t>
            </a:r>
          </a:p>
        </p:txBody>
      </p:sp>
      <p:sp>
        <p:nvSpPr>
          <p:cNvPr id="6" name="choice-right-bg">
            <a:extLst xmlns:a="http://schemas.openxmlformats.org/drawingml/2006/main">
              <a:ext uri="{FF2B5EF4-FFF2-40B4-BE49-F238E27FC236}">
                <a16:creationId xmlns:a16="http://schemas.microsoft.com/office/drawing/2014/main" id="{7A4FFD0D-AFB0-4C81-8B60-B503CC65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2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choice-right-kicker">
            <a:extLst xmlns:a="http://schemas.openxmlformats.org/drawingml/2006/main">
              <a:ext uri="{FF2B5EF4-FFF2-40B4-BE49-F238E27FC236}">
                <a16:creationId xmlns:a16="http://schemas.microsoft.com/office/drawing/2014/main" id="{DEAF550D-F181-4E52-A732-4E426F2B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1049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A3D"/>
                </a:solidFill>
              </a:defRPr>
            </a:pPr>
            <a:r>
              <a:rPr sz="1500" b="1">
                <a:solidFill>
                  <a:srgbClr val="FF6A3D"/>
                </a:solidFill>
              </a:rPr>
              <a:t>FARKLI ARAÇLAR</a:t>
            </a:r>
          </a:p>
        </p:txBody>
      </p:sp>
      <p:sp>
        <p:nvSpPr>
          <p:cNvPr id="8" name="choice-right-title">
            <a:extLst xmlns:a="http://schemas.openxmlformats.org/drawingml/2006/main">
              <a:ext uri="{FF2B5EF4-FFF2-40B4-BE49-F238E27FC236}">
                <a16:creationId xmlns:a16="http://schemas.microsoft.com/office/drawing/2014/main" id="{0EA6A3C8-FF63-436D-9550-D76F5C35E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6764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Yeni helikopter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F5FAFF"/>
                </a:solidFill>
              </a:defRPr>
            </a:pPr>
            <a:r>
              <a:rPr sz="4350" b="1">
                <a:solidFill>
                  <a:srgbClr val="F5FAFF"/>
                </a:solidFill>
              </a:rPr>
              <a:t>sınıfları</a:t>
            </a:r>
          </a:p>
        </p:txBody>
      </p:sp>
      <p:sp>
        <p:nvSpPr>
          <p:cNvPr id="9" name="choice-right-body">
            <a:extLst xmlns:a="http://schemas.openxmlformats.org/drawingml/2006/main">
              <a:ext uri="{FF2B5EF4-FFF2-40B4-BE49-F238E27FC236}">
                <a16:creationId xmlns:a16="http://schemas.microsoft.com/office/drawing/2014/main" id="{9525DD3A-C08C-4180-83C3-64803BBB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195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A9C6DC"/>
                </a:solidFill>
              </a:defRPr>
            </a:pPr>
            <a:r>
              <a:rPr sz="2025" b="0">
                <a:solidFill>
                  <a:srgbClr val="A9C6DC"/>
                </a:solidFill>
              </a:rPr>
              <a:t>Genel maksat, hava ambulansı veya taarruz helikopteri temaları; her biri farklı görev ritmi ve engel yapısı sunabilir.</a:t>
            </a:r>
          </a:p>
        </p:txBody>
      </p:sp>
      <p:sp>
        <p:nvSpPr>
          <p:cNvPr id="10" name="choice-right-close">
            <a:extLst xmlns:a="http://schemas.openxmlformats.org/drawingml/2006/main">
              <a:ext uri="{FF2B5EF4-FFF2-40B4-BE49-F238E27FC236}">
                <a16:creationId xmlns:a16="http://schemas.microsoft.com/office/drawing/2014/main" id="{95785DCC-4E9D-4746-8819-AB1FC32C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911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6C2FF"/>
                </a:solidFill>
              </a:defRPr>
            </a:pPr>
            <a:r>
              <a:rPr sz="1800" b="1">
                <a:solidFill>
                  <a:srgbClr val="36C2FF"/>
                </a:solidFill>
              </a:rPr>
              <a:t>Marka, platform adı ve resmî görseller yalnızca gerekli izinlerle kullanılır.</a:t>
            </a:r>
          </a:p>
        </p:txBody>
      </p:sp>
      <p:sp>
        <p:nvSpPr>
          <p:cNvPr id="11" name="footer-line-2">
            <a:extLst xmlns:a="http://schemas.openxmlformats.org/drawingml/2006/main">
              <a:ext uri="{FF2B5EF4-FFF2-40B4-BE49-F238E27FC236}">
                <a16:creationId xmlns:a16="http://schemas.microsoft.com/office/drawing/2014/main" id="{113E29DE-0E29-47FC-BEB6-25B06A08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CE7D754E-9C69-4063-85F8-674FA0EA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3B4A919-7787-4C96-A8B4-4B981198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391247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244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lose-top">
            <a:extLst xmlns:a="http://schemas.openxmlformats.org/drawingml/2006/main">
              <a:ext uri="{FF2B5EF4-FFF2-40B4-BE49-F238E27FC236}">
                <a16:creationId xmlns:a16="http://schemas.microsoft.com/office/drawing/2014/main" id="{E82C92A6-847A-405A-B58A-23E2254E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C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D43D2EE9-74FA-4C4E-B756-B3704AAEB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6A3D"/>
                </a:solidFill>
              </a:defRPr>
            </a:pPr>
            <a:r>
              <a:rPr sz="1575" b="1">
                <a:solidFill>
                  <a:srgbClr val="FF6A3D"/>
                </a:solidFill>
              </a:rPr>
              <a:t>SKY OLİMPİYATLARI  /  2026 III. DÖNEM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2E445C89-9D78-422F-94D6-67C9D0D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78105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Anlatmak yerine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5FAFF"/>
                </a:solidFill>
              </a:defRPr>
            </a:pPr>
            <a:r>
              <a:rPr sz="4650" b="1">
                <a:solidFill>
                  <a:srgbClr val="F5FAFF"/>
                </a:solidFill>
              </a:rPr>
              <a:t>oynatılabilen bir proje.</a:t>
            </a:r>
          </a:p>
        </p:txBody>
      </p:sp>
      <p:sp>
        <p:nvSpPr>
          <p:cNvPr id="4" name="close-body">
            <a:extLst xmlns:a="http://schemas.openxmlformats.org/drawingml/2006/main">
              <a:ext uri="{FF2B5EF4-FFF2-40B4-BE49-F238E27FC236}">
                <a16:creationId xmlns:a16="http://schemas.microsoft.com/office/drawing/2014/main" id="{B7647F88-9436-40F0-BE92-7DED61E4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685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36C2FF"/>
                </a:solidFill>
              </a:defRPr>
            </a:pPr>
            <a:r>
              <a:rPr sz="2250" b="0">
                <a:solidFill>
                  <a:srgbClr val="36C2FF"/>
                </a:solidFill>
              </a:rPr>
              <a:t>Küçük, tamamlanmış ve doğrudan oynanabilir.</a:t>
            </a:r>
          </a:p>
        </p:txBody>
      </p:sp>
      <p:sp>
        <p:nvSpPr>
          <p:cNvPr id="5" name="close-learned">
            <a:extLst xmlns:a="http://schemas.openxmlformats.org/drawingml/2006/main">
              <a:ext uri="{FF2B5EF4-FFF2-40B4-BE49-F238E27FC236}">
                <a16:creationId xmlns:a16="http://schemas.microsoft.com/office/drawing/2014/main" id="{2E45DB04-FBFD-422E-BDEA-B87A3D38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2910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Oyunun çalıştığı volitanlabs.dev sitesini de ben geliştirdim.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F5FAFF"/>
                </a:solidFill>
              </a:defRPr>
            </a:pPr>
            <a:r>
              <a:rPr sz="1950" b="0">
                <a:solidFill>
                  <a:srgbClr val="F5FAFF"/>
                </a:solidFill>
              </a:rPr>
              <a:t>Sunumdan sonra açıp oynayabilirsiniz.</a:t>
            </a:r>
          </a:p>
        </p:txBody>
      </p:sp>
      <p:sp>
        <p:nvSpPr>
          <p:cNvPr id="6" name="close-url">
            <a:extLst xmlns:a="http://schemas.openxmlformats.org/drawingml/2006/main">
              <a:ext uri="{FF2B5EF4-FFF2-40B4-BE49-F238E27FC236}">
                <a16:creationId xmlns:a16="http://schemas.microsoft.com/office/drawing/2014/main" id="{10827C57-DE19-4428-8775-D18CC46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197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D6F55F"/>
                </a:solidFill>
              </a:defRPr>
            </a:pPr>
            <a:r>
              <a:rPr sz="1800" b="1">
                <a:solidFill>
                  <a:srgbClr val="D6F55F"/>
                </a:solidFill>
              </a:rPr>
              <a:t>volitanlabs.dev/tr/blue-rescue</a:t>
            </a:r>
          </a:p>
        </p:txBody>
      </p:sp>
      <p:sp>
        <p:nvSpPr>
          <p:cNvPr id="7" name="qr-surface">
            <a:extLst xmlns:a="http://schemas.openxmlformats.org/drawingml/2006/main">
              <a:ext uri="{FF2B5EF4-FFF2-40B4-BE49-F238E27FC236}">
                <a16:creationId xmlns:a16="http://schemas.microsoft.com/office/drawing/2014/main" id="{720AB9A0-ADD7-4949-8AAC-D73289C7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476500" cy="3048000"/>
          </a:xfrm>
          <a:prstGeom xmlns:a="http://schemas.openxmlformats.org/drawingml/2006/main" prst="roundRect">
            <a:avLst>
              <a:gd name="adj" fmla="val 8462"/>
            </a:avLst>
          </a:prstGeom>
          <a:solidFill xmlns:a="http://schemas.openxmlformats.org/drawingml/2006/main">
            <a:srgbClr val="F5FA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8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c3decc8fc4681"/>
          <a:stretch xmlns:a="http://schemas.openxmlformats.org/drawingml/2006/main"/>
        </p:blipFill>
        <p:spPr>
          <a:xfrm xmlns:a="http://schemas.openxmlformats.org/drawingml/2006/main">
            <a:off x="8877300" y="198120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9" name="qr-label">
            <a:extLst xmlns:a="http://schemas.openxmlformats.org/drawingml/2006/main">
              <a:ext uri="{FF2B5EF4-FFF2-40B4-BE49-F238E27FC236}">
                <a16:creationId xmlns:a16="http://schemas.microsoft.com/office/drawing/2014/main" id="{5E0ED7B5-5664-45B0-99E1-2C816673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3860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03172D"/>
                </a:solidFill>
              </a:defRPr>
            </a:pPr>
            <a:r>
              <a:rPr sz="1875" b="1">
                <a:solidFill>
                  <a:srgbClr val="03172D"/>
                </a:solidFill>
              </a:rPr>
              <a:t>CANLI DEMO</a:t>
            </a:r>
          </a:p>
        </p:txBody>
      </p:sp>
      <p:sp>
        <p:nvSpPr>
          <p:cNvPr id="10" name="footer-line-7">
            <a:extLst xmlns:a="http://schemas.openxmlformats.org/drawingml/2006/main">
              <a:ext uri="{FF2B5EF4-FFF2-40B4-BE49-F238E27FC236}">
                <a16:creationId xmlns:a16="http://schemas.microsoft.com/office/drawing/2014/main" id="{09872D8F-C578-498A-9418-910240A4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527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E4150C95-9F27-4D35-9E70-81518A8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055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MUHAMMED EREN GÖKCEOĞLU</a:t>
            </a:r>
          </a:p>
        </p:txBody>
      </p:sp>
      <p:sp>
        <p:nvSpPr>
          <p:cNvPr id="12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512D1E0C-05CD-4780-8468-1BB853A8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05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A9C6DC"/>
                </a:solidFill>
              </a:defRPr>
            </a:pPr>
            <a:r>
              <a:rPr sz="1050" b="1">
                <a:solidFill>
                  <a:srgbClr val="A9C6DC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397015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2026-09-03T17:43:04.5010000Z</dcterms:created>
  <dcterms:modified xsi:type="dcterms:W3CDTF">2026-09-03T17:43:04.5010000Z</dcterms:modified>
</coreProperties>
</file>